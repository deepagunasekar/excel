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11.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media/image25.jpg" ContentType="image/jpeg"/>
  <Override PartName="/ppt/media/image29.jpg" ContentType="image/jpeg"/>
  <Override PartName="/ppt/media/image30.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9" r:id="rId4"/>
    <p:sldId id="270" r:id="rId5"/>
    <p:sldId id="269" r:id="rId6"/>
    <p:sldId id="262" r:id="rId7"/>
    <p:sldId id="263" r:id="rId8"/>
    <p:sldId id="264" r:id="rId9"/>
    <p:sldId id="258" r:id="rId10"/>
    <p:sldId id="271" r:id="rId11"/>
    <p:sldId id="265" r:id="rId12"/>
    <p:sldId id="266" r:id="rId13"/>
    <p:sldId id="267" r:id="rId14"/>
    <p:sldId id="268" r:id="rId15"/>
    <p:sldId id="273" r:id="rId16"/>
    <p:sldId id="274" r:id="rId17"/>
    <p:sldId id="275" r:id="rId18"/>
    <p:sldId id="276" r:id="rId19"/>
  </p:sldIdLst>
  <p:sldSz cx="18288000" cy="10287000"/>
  <p:notesSz cx="18288000" cy="10287000"/>
  <p:defaultTextStyle>
    <a:defPPr>
      <a:defRPr kern="0"/>
    </a:defPPr>
  </p:defaultTextStyle>
  <p:extLst>
    <p:ext uri="{521415D9-36F7-43E2-AB2F-B90AF26B5E84}">
      <p14:sectionLst xmlns:p14="http://schemas.microsoft.com/office/powerpoint/2010/main">
        <p14:section name="Default Section" id="{F8BCA269-4ABF-4B4B-B4D2-A3BE374B7DB7}">
          <p14:sldIdLst>
            <p14:sldId id="256"/>
            <p14:sldId id="257"/>
            <p14:sldId id="259"/>
          </p14:sldIdLst>
        </p14:section>
        <p14:section name="Untitled Section" id="{F405BF8D-7B48-44D8-A937-3D46098691BB}">
          <p14:sldIdLst>
            <p14:sldId id="270"/>
            <p14:sldId id="269"/>
            <p14:sldId id="262"/>
            <p14:sldId id="263"/>
            <p14:sldId id="264"/>
            <p14:sldId id="258"/>
            <p14:sldId id="271"/>
            <p14:sldId id="265"/>
            <p14:sldId id="266"/>
            <p14:sldId id="267"/>
            <p14:sldId id="268"/>
            <p14:sldId id="273"/>
            <p14:sldId id="274"/>
            <p14:sldId id="275"/>
            <p14:sldId id="276"/>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3" d="100"/>
          <a:sy n="43" d="100"/>
        </p:scale>
        <p:origin x="93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F:\New%20Folder\rainforcemen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F:\New%20Folder\rainforcemen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F:\New%20Folder\reforcemen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F:\New%20Folder\reforcemen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[rainforcement.xlsx]pivot table!CATEGORY</c:name>
    <c:fmtId val="31"/>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194150211894523"/>
          <c:y val="9.1614375126186157E-2"/>
          <c:w val="0.67937384751052088"/>
          <c:h val="0.76728750252372302"/>
        </c:manualLayout>
      </c:layout>
      <c:barChart>
        <c:barDir val="bar"/>
        <c:grouping val="clustered"/>
        <c:varyColors val="0"/>
        <c:ser>
          <c:idx val="0"/>
          <c:order val="0"/>
          <c:tx>
            <c:strRef>
              <c:f>'pivot table'!$B$61</c:f>
              <c:strCache>
                <c:ptCount val="1"/>
                <c:pt idx="0">
                  <c:v>Total</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Pt>
            <c:idx val="0"/>
            <c:invertIfNegative val="0"/>
            <c:bubble3D val="0"/>
            <c:spPr>
              <a:solidFill>
                <a:srgbClr val="FF000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2-D8EF-4EEF-AA3B-B3D7F2E4D964}"/>
              </c:ext>
            </c:extLst>
          </c:dPt>
          <c:dPt>
            <c:idx val="2"/>
            <c:invertIfNegative val="0"/>
            <c:bubble3D val="0"/>
            <c:spPr>
              <a:solidFill>
                <a:srgbClr val="00B05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D8EF-4EEF-AA3B-B3D7F2E4D964}"/>
              </c:ext>
            </c:extLst>
          </c:dPt>
          <c:dLbls>
            <c:dLbl>
              <c:idx val="0"/>
              <c:spPr>
                <a:noFill/>
                <a:ln>
                  <a:noFill/>
                </a:ln>
                <a:effectLst/>
              </c:spPr>
              <c:txPr>
                <a:bodyPr rot="0" spcFirstLastPara="1" vertOverflow="ellipsis" vert="horz" wrap="square" lIns="38100" tIns="19050" rIns="38100" bIns="19050" anchor="ctr" anchorCtr="1">
                  <a:noAutofit/>
                </a:bodyPr>
                <a:lstStyle/>
                <a:p>
                  <a:pPr>
                    <a:defRPr sz="2400" b="1" i="0" u="none" strike="noStrike" kern="1200" baseline="0">
                      <a:solidFill>
                        <a:schemeClr val="bg1"/>
                      </a:solidFill>
                      <a:latin typeface="+mn-lt"/>
                      <a:ea typeface="+mn-ea"/>
                      <a:cs typeface="+mn-cs"/>
                    </a:defRPr>
                  </a:pPr>
                  <a:endParaRPr lang="en-AS"/>
                </a:p>
              </c:txPr>
              <c:dLblPos val="outEnd"/>
              <c:showLegendKey val="0"/>
              <c:showVal val="1"/>
              <c:showCatName val="0"/>
              <c:showSerName val="0"/>
              <c:showPercent val="0"/>
              <c:showBubbleSize val="0"/>
              <c:extLst>
                <c:ext xmlns:c15="http://schemas.microsoft.com/office/drawing/2012/chart" uri="{CE6537A1-D6FC-4f65-9D91-7224C49458BB}">
                  <c15:layout>
                    <c:manualLayout>
                      <c:w val="0.23751376857415357"/>
                      <c:h val="0.19375706214689264"/>
                    </c:manualLayout>
                  </c15:layout>
                </c:ext>
                <c:ext xmlns:c16="http://schemas.microsoft.com/office/drawing/2014/chart" uri="{C3380CC4-5D6E-409C-BE32-E72D297353CC}">
                  <c16:uniqueId val="{00000002-D8EF-4EEF-AA3B-B3D7F2E4D964}"/>
                </c:ext>
              </c:extLst>
            </c:dLbl>
            <c:dLbl>
              <c:idx val="1"/>
              <c:spPr>
                <a:noFill/>
                <a:ln>
                  <a:noFill/>
                </a:ln>
                <a:effectLst/>
              </c:spPr>
              <c:txPr>
                <a:bodyPr rot="0" spcFirstLastPara="1" vertOverflow="ellipsis" vert="horz" wrap="square" lIns="38100" tIns="19050" rIns="38100" bIns="19050" anchor="ctr" anchorCtr="1">
                  <a:noAutofit/>
                </a:bodyPr>
                <a:lstStyle/>
                <a:p>
                  <a:pPr>
                    <a:defRPr sz="2400" b="1" i="0" u="none" strike="noStrike" kern="1200" baseline="0">
                      <a:solidFill>
                        <a:schemeClr val="bg1"/>
                      </a:solidFill>
                      <a:latin typeface="+mn-lt"/>
                      <a:ea typeface="+mn-ea"/>
                      <a:cs typeface="+mn-cs"/>
                    </a:defRPr>
                  </a:pPr>
                  <a:endParaRPr lang="en-AS"/>
                </a:p>
              </c:txPr>
              <c:dLblPos val="outEnd"/>
              <c:showLegendKey val="0"/>
              <c:showVal val="1"/>
              <c:showCatName val="0"/>
              <c:showSerName val="0"/>
              <c:showPercent val="0"/>
              <c:showBubbleSize val="0"/>
              <c:extLst>
                <c:ext xmlns:c15="http://schemas.microsoft.com/office/drawing/2012/chart" uri="{CE6537A1-D6FC-4f65-9D91-7224C49458BB}">
                  <c15:layout>
                    <c:manualLayout>
                      <c:w val="0.24967347295518974"/>
                      <c:h val="0.16833333333333331"/>
                    </c:manualLayout>
                  </c15:layout>
                </c:ext>
                <c:ext xmlns:c16="http://schemas.microsoft.com/office/drawing/2014/chart" uri="{C3380CC4-5D6E-409C-BE32-E72D297353CC}">
                  <c16:uniqueId val="{00000003-D8EF-4EEF-AA3B-B3D7F2E4D964}"/>
                </c:ext>
              </c:extLst>
            </c:dLbl>
            <c:dLbl>
              <c:idx val="2"/>
              <c:layout>
                <c:manualLayout>
                  <c:x val="-5.906148966910707E-2"/>
                  <c:y val="-2.8247475421504516E-3"/>
                </c:manualLayout>
              </c:layout>
              <c:spPr>
                <a:noFill/>
                <a:ln>
                  <a:noFill/>
                </a:ln>
                <a:effectLst/>
              </c:spPr>
              <c:txPr>
                <a:bodyPr rot="0" spcFirstLastPara="1" vertOverflow="ellipsis" vert="horz" wrap="square" lIns="38100" tIns="19050" rIns="38100" bIns="19050" anchor="ctr" anchorCtr="1">
                  <a:noAutofit/>
                </a:bodyPr>
                <a:lstStyle/>
                <a:p>
                  <a:pPr>
                    <a:defRPr sz="2400" b="1" i="0" u="none" strike="noStrike" kern="1200" baseline="0">
                      <a:solidFill>
                        <a:schemeClr val="bg1"/>
                      </a:solidFill>
                      <a:latin typeface="+mn-lt"/>
                      <a:ea typeface="+mn-ea"/>
                      <a:cs typeface="+mn-cs"/>
                    </a:defRPr>
                  </a:pPr>
                  <a:endParaRPr lang="en-AS"/>
                </a:p>
              </c:txPr>
              <c:dLblPos val="outEnd"/>
              <c:showLegendKey val="0"/>
              <c:showVal val="1"/>
              <c:showCatName val="0"/>
              <c:showSerName val="0"/>
              <c:showPercent val="0"/>
              <c:showBubbleSize val="0"/>
              <c:extLst>
                <c:ext xmlns:c15="http://schemas.microsoft.com/office/drawing/2012/chart" uri="{CE6537A1-D6FC-4f65-9D91-7224C49458BB}">
                  <c15:layout>
                    <c:manualLayout>
                      <c:w val="0.22535406419311743"/>
                      <c:h val="0.16268361581920901"/>
                    </c:manualLayout>
                  </c15:layout>
                </c:ext>
                <c:ext xmlns:c16="http://schemas.microsoft.com/office/drawing/2014/chart" uri="{C3380CC4-5D6E-409C-BE32-E72D297353CC}">
                  <c16:uniqueId val="{00000001-D8EF-4EEF-AA3B-B3D7F2E4D964}"/>
                </c:ext>
              </c:extLst>
            </c:dLbl>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chemeClr val="bg1"/>
                    </a:solidFill>
                    <a:latin typeface="+mn-lt"/>
                    <a:ea typeface="+mn-ea"/>
                    <a:cs typeface="+mn-cs"/>
                  </a:defRPr>
                </a:pPr>
                <a:endParaRPr lang="en-A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table'!$A$62:$A$65</c:f>
              <c:strCache>
                <c:ptCount val="3"/>
                <c:pt idx="0">
                  <c:v>Office Supplies</c:v>
                </c:pt>
                <c:pt idx="1">
                  <c:v>Furniture</c:v>
                </c:pt>
                <c:pt idx="2">
                  <c:v>Technology</c:v>
                </c:pt>
              </c:strCache>
            </c:strRef>
          </c:cat>
          <c:val>
            <c:numRef>
              <c:f>'pivot table'!$B$62:$B$65</c:f>
              <c:numCache>
                <c:formatCode>General</c:formatCode>
                <c:ptCount val="3"/>
                <c:pt idx="0">
                  <c:v>719047.03200000001</c:v>
                </c:pt>
                <c:pt idx="1">
                  <c:v>741999.7953</c:v>
                </c:pt>
                <c:pt idx="2">
                  <c:v>836154.03300000005</c:v>
                </c:pt>
              </c:numCache>
            </c:numRef>
          </c:val>
          <c:extLst>
            <c:ext xmlns:c16="http://schemas.microsoft.com/office/drawing/2014/chart" uri="{C3380CC4-5D6E-409C-BE32-E72D297353CC}">
              <c16:uniqueId val="{00000000-D8EF-4EEF-AA3B-B3D7F2E4D964}"/>
            </c:ext>
          </c:extLst>
        </c:ser>
        <c:dLbls>
          <c:showLegendKey val="0"/>
          <c:showVal val="0"/>
          <c:showCatName val="0"/>
          <c:showSerName val="0"/>
          <c:showPercent val="0"/>
          <c:showBubbleSize val="0"/>
        </c:dLbls>
        <c:gapWidth val="100"/>
        <c:axId val="877109544"/>
        <c:axId val="877107744"/>
      </c:barChart>
      <c:catAx>
        <c:axId val="877109544"/>
        <c:scaling>
          <c:orientation val="minMax"/>
        </c:scaling>
        <c:delete val="0"/>
        <c:axPos val="l"/>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7107744"/>
        <c:crosses val="autoZero"/>
        <c:auto val="1"/>
        <c:lblAlgn val="ctr"/>
        <c:lblOffset val="100"/>
        <c:noMultiLvlLbl val="0"/>
      </c:catAx>
      <c:valAx>
        <c:axId val="877107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71095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[rainforcement.xlsx]pivot table!SEGMENT</c:name>
    <c:fmtId val="25"/>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9037887523473793"/>
          <c:y val="2.1371671926223228E-2"/>
          <c:w val="0.80962112476526205"/>
          <c:h val="0.86693281044149639"/>
        </c:manualLayout>
      </c:layout>
      <c:barChart>
        <c:barDir val="col"/>
        <c:grouping val="clustered"/>
        <c:varyColors val="0"/>
        <c:ser>
          <c:idx val="0"/>
          <c:order val="0"/>
          <c:tx>
            <c:strRef>
              <c:f>'pivot table'!$B$70</c:f>
              <c:strCache>
                <c:ptCount val="1"/>
                <c:pt idx="0">
                  <c:v>Total</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invertIfNegative val="0"/>
          <c:dPt>
            <c:idx val="0"/>
            <c:invertIfNegative val="0"/>
            <c:bubble3D val="0"/>
            <c:spPr>
              <a:solidFill>
                <a:srgbClr val="00B05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59C4-438A-B862-B413255C0972}"/>
              </c:ext>
            </c:extLst>
          </c:dPt>
          <c:dPt>
            <c:idx val="2"/>
            <c:invertIfNegative val="0"/>
            <c:bubble3D val="0"/>
            <c:spPr>
              <a:solidFill>
                <a:srgbClr val="FF0000"/>
              </a:soli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2-59C4-438A-B862-B413255C0972}"/>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A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table'!$A$71:$A$74</c:f>
              <c:strCache>
                <c:ptCount val="3"/>
                <c:pt idx="0">
                  <c:v>Consumer</c:v>
                </c:pt>
                <c:pt idx="1">
                  <c:v>Corporate</c:v>
                </c:pt>
                <c:pt idx="2">
                  <c:v>Home Office</c:v>
                </c:pt>
              </c:strCache>
            </c:strRef>
          </c:cat>
          <c:val>
            <c:numRef>
              <c:f>'pivot table'!$B$71:$B$74</c:f>
              <c:numCache>
                <c:formatCode>General</c:formatCode>
                <c:ptCount val="3"/>
                <c:pt idx="0">
                  <c:v>1161401.345</c:v>
                </c:pt>
                <c:pt idx="1">
                  <c:v>706146.36679999996</c:v>
                </c:pt>
                <c:pt idx="2">
                  <c:v>429653.14850000001</c:v>
                </c:pt>
              </c:numCache>
            </c:numRef>
          </c:val>
          <c:extLst>
            <c:ext xmlns:c16="http://schemas.microsoft.com/office/drawing/2014/chart" uri="{C3380CC4-5D6E-409C-BE32-E72D297353CC}">
              <c16:uniqueId val="{00000000-59C4-438A-B862-B413255C0972}"/>
            </c:ext>
          </c:extLst>
        </c:ser>
        <c:dLbls>
          <c:dLblPos val="outEnd"/>
          <c:showLegendKey val="0"/>
          <c:showVal val="1"/>
          <c:showCatName val="0"/>
          <c:showSerName val="0"/>
          <c:showPercent val="0"/>
          <c:showBubbleSize val="0"/>
        </c:dLbls>
        <c:gapWidth val="100"/>
        <c:overlap val="-24"/>
        <c:axId val="875107928"/>
        <c:axId val="875108288"/>
      </c:barChart>
      <c:catAx>
        <c:axId val="875107928"/>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5108288"/>
        <c:crosses val="autoZero"/>
        <c:auto val="1"/>
        <c:lblAlgn val="ctr"/>
        <c:lblOffset val="100"/>
        <c:noMultiLvlLbl val="0"/>
      </c:catAx>
      <c:valAx>
        <c:axId val="87510828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51079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[reforcement.xlsx]pivot table!SHIP MODE</c:name>
    <c:fmtId val="13"/>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3"/>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1"/>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1"/>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pivotFmt>
    </c:pivotFmts>
    <c:plotArea>
      <c:layout>
        <c:manualLayout>
          <c:layoutTarget val="inner"/>
          <c:xMode val="edge"/>
          <c:yMode val="edge"/>
          <c:x val="3.9420076600863663E-2"/>
          <c:y val="0.11666905242229536"/>
          <c:w val="0.56780978384074421"/>
          <c:h val="0.79255632653132191"/>
        </c:manualLayout>
      </c:layout>
      <c:doughnutChart>
        <c:varyColors val="1"/>
        <c:ser>
          <c:idx val="0"/>
          <c:order val="0"/>
          <c:tx>
            <c:strRef>
              <c:f>'pivot table'!$B$78</c:f>
              <c:strCache>
                <c:ptCount val="1"/>
                <c:pt idx="0">
                  <c:v>Total</c:v>
                </c:pt>
              </c:strCache>
            </c:strRef>
          </c:tx>
          <c:dPt>
            <c:idx val="0"/>
            <c:bubble3D val="0"/>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1-DE50-426A-A3C5-F03E5A065689}"/>
              </c:ext>
            </c:extLst>
          </c:dPt>
          <c:dPt>
            <c:idx val="1"/>
            <c:bubble3D val="0"/>
            <c:spPr>
              <a:gradFill rotWithShape="1">
                <a:gsLst>
                  <a:gs pos="0">
                    <a:schemeClr val="accent2">
                      <a:shade val="51000"/>
                      <a:satMod val="130000"/>
                    </a:schemeClr>
                  </a:gs>
                  <a:gs pos="80000">
                    <a:schemeClr val="accent2">
                      <a:shade val="93000"/>
                      <a:satMod val="130000"/>
                    </a:schemeClr>
                  </a:gs>
                  <a:gs pos="100000">
                    <a:schemeClr val="accent2">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3-DE50-426A-A3C5-F03E5A065689}"/>
              </c:ext>
            </c:extLst>
          </c:dPt>
          <c:dPt>
            <c:idx val="2"/>
            <c:bubble3D val="0"/>
            <c:spPr>
              <a:gradFill rotWithShape="1">
                <a:gsLst>
                  <a:gs pos="0">
                    <a:schemeClr val="accent3">
                      <a:shade val="51000"/>
                      <a:satMod val="130000"/>
                    </a:schemeClr>
                  </a:gs>
                  <a:gs pos="80000">
                    <a:schemeClr val="accent3">
                      <a:shade val="93000"/>
                      <a:satMod val="130000"/>
                    </a:schemeClr>
                  </a:gs>
                  <a:gs pos="100000">
                    <a:schemeClr val="accent3">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5-DE50-426A-A3C5-F03E5A065689}"/>
              </c:ext>
            </c:extLst>
          </c:dPt>
          <c:dPt>
            <c:idx val="3"/>
            <c:bubble3D val="0"/>
            <c:spPr>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c:spPr>
            <c:extLst>
              <c:ext xmlns:c16="http://schemas.microsoft.com/office/drawing/2014/chart" uri="{C3380CC4-5D6E-409C-BE32-E72D297353CC}">
                <c16:uniqueId val="{00000007-DE50-426A-A3C5-F03E5A065689}"/>
              </c:ext>
            </c:extLst>
          </c:dPt>
          <c:dLbls>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1"/>
                    </a:solidFill>
                    <a:latin typeface="+mn-lt"/>
                    <a:ea typeface="+mn-ea"/>
                    <a:cs typeface="+mn-cs"/>
                  </a:defRPr>
                </a:pPr>
                <a:endParaRPr lang="en-AS"/>
              </a:p>
            </c:txP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'pivot table'!$A$79:$A$83</c:f>
              <c:strCache>
                <c:ptCount val="4"/>
                <c:pt idx="0">
                  <c:v>First Class</c:v>
                </c:pt>
                <c:pt idx="1">
                  <c:v>Same Day</c:v>
                </c:pt>
                <c:pt idx="2">
                  <c:v>Second Class</c:v>
                </c:pt>
                <c:pt idx="3">
                  <c:v>Standard Class</c:v>
                </c:pt>
              </c:strCache>
            </c:strRef>
          </c:cat>
          <c:val>
            <c:numRef>
              <c:f>'pivot table'!$B$79:$B$83</c:f>
              <c:numCache>
                <c:formatCode>General</c:formatCode>
                <c:ptCount val="4"/>
                <c:pt idx="0">
                  <c:v>351428.42290000001</c:v>
                </c:pt>
                <c:pt idx="1">
                  <c:v>128363.125</c:v>
                </c:pt>
                <c:pt idx="2">
                  <c:v>459193.56939999998</c:v>
                </c:pt>
                <c:pt idx="3">
                  <c:v>1358215.743</c:v>
                </c:pt>
              </c:numCache>
            </c:numRef>
          </c:val>
          <c:extLst>
            <c:ext xmlns:c16="http://schemas.microsoft.com/office/drawing/2014/chart" uri="{C3380CC4-5D6E-409C-BE32-E72D297353CC}">
              <c16:uniqueId val="{00000008-DE50-426A-A3C5-F03E5A065689}"/>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800" b="0" i="0" u="none" strike="noStrike" kern="1200" baseline="0">
              <a:solidFill>
                <a:schemeClr val="bg1"/>
              </a:solidFill>
              <a:latin typeface="+mn-lt"/>
              <a:ea typeface="+mn-ea"/>
              <a:cs typeface="+mn-cs"/>
            </a:defRPr>
          </a:pPr>
          <a:endParaRPr lang="en-A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[reforcement.xlsx]pivot table!PivotTable10</c:name>
    <c:fmtId val="16"/>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A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2163696874656954"/>
          <c:y val="0.19414980319962416"/>
          <c:w val="0.77323746255020986"/>
          <c:h val="0.71655532223964102"/>
        </c:manualLayout>
      </c:layout>
      <c:lineChart>
        <c:grouping val="stacked"/>
        <c:varyColors val="0"/>
        <c:ser>
          <c:idx val="0"/>
          <c:order val="0"/>
          <c:tx>
            <c:strRef>
              <c:f>'pivot table'!$B$91</c:f>
              <c:strCache>
                <c:ptCount val="1"/>
                <c:pt idx="0">
                  <c:v>Total</c:v>
                </c:pt>
              </c:strCache>
            </c:strRef>
          </c:tx>
          <c:spPr>
            <a:ln w="28575" cap="rnd" cmpd="sng">
              <a:solidFill>
                <a:schemeClr val="accent1"/>
              </a:solidFill>
              <a:round/>
            </a:ln>
            <a:effectLst>
              <a:outerShdw blurRad="50800" dist="38100" dir="16200000" rotWithShape="0">
                <a:prstClr val="black">
                  <a:alpha val="40000"/>
                </a:prstClr>
              </a:outerShdw>
            </a:effectLst>
          </c:spPr>
          <c:marker>
            <c:symbol val="none"/>
          </c:marker>
          <c:dLbls>
            <c:dLbl>
              <c:idx val="0"/>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FF0000"/>
                      </a:solidFill>
                      <a:latin typeface="+mn-lt"/>
                      <a:ea typeface="+mn-ea"/>
                      <a:cs typeface="+mn-cs"/>
                    </a:defRPr>
                  </a:pPr>
                  <a:endParaRPr lang="en-AS"/>
                </a:p>
              </c:txPr>
              <c:dLblPos val="t"/>
              <c:showLegendKey val="0"/>
              <c:showVal val="1"/>
              <c:showCatName val="0"/>
              <c:showSerName val="0"/>
              <c:showPercent val="0"/>
              <c:showBubbleSize val="0"/>
              <c:extLst>
                <c:ext xmlns:c16="http://schemas.microsoft.com/office/drawing/2014/chart" uri="{C3380CC4-5D6E-409C-BE32-E72D297353CC}">
                  <c16:uniqueId val="{00000000-2A9F-408B-BB2B-7883D8B3204D}"/>
                </c:ext>
              </c:extLst>
            </c:dLbl>
            <c:dLbl>
              <c:idx val="3"/>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00B050"/>
                      </a:solidFill>
                      <a:latin typeface="+mn-lt"/>
                      <a:ea typeface="+mn-ea"/>
                      <a:cs typeface="+mn-cs"/>
                    </a:defRPr>
                  </a:pPr>
                  <a:endParaRPr lang="en-AS"/>
                </a:p>
              </c:txPr>
              <c:dLblPos val="t"/>
              <c:showLegendKey val="0"/>
              <c:showVal val="1"/>
              <c:showCatName val="0"/>
              <c:showSerName val="0"/>
              <c:showPercent val="0"/>
              <c:showBubbleSize val="0"/>
              <c:extLst>
                <c:ext xmlns:c16="http://schemas.microsoft.com/office/drawing/2014/chart" uri="{C3380CC4-5D6E-409C-BE32-E72D297353CC}">
                  <c16:uniqueId val="{00000001-2A9F-408B-BB2B-7883D8B3204D}"/>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A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table'!$A$92:$A$96</c:f>
              <c:strCache>
                <c:ptCount val="4"/>
                <c:pt idx="0">
                  <c:v>2014</c:v>
                </c:pt>
                <c:pt idx="1">
                  <c:v>2015</c:v>
                </c:pt>
                <c:pt idx="2">
                  <c:v>2016</c:v>
                </c:pt>
                <c:pt idx="3">
                  <c:v>2017</c:v>
                </c:pt>
              </c:strCache>
            </c:strRef>
          </c:cat>
          <c:val>
            <c:numRef>
              <c:f>'pivot table'!$B$92:$B$96</c:f>
              <c:numCache>
                <c:formatCode>General</c:formatCode>
                <c:ptCount val="4"/>
                <c:pt idx="0">
                  <c:v>484247.49810000003</c:v>
                </c:pt>
                <c:pt idx="1">
                  <c:v>470532.50900000002</c:v>
                </c:pt>
                <c:pt idx="2">
                  <c:v>609205.598</c:v>
                </c:pt>
                <c:pt idx="3">
                  <c:v>733215.25520000001</c:v>
                </c:pt>
              </c:numCache>
            </c:numRef>
          </c:val>
          <c:smooth val="0"/>
          <c:extLst>
            <c:ext xmlns:c16="http://schemas.microsoft.com/office/drawing/2014/chart" uri="{C3380CC4-5D6E-409C-BE32-E72D297353CC}">
              <c16:uniqueId val="{00000000-E6F3-4300-A259-ACA1875469F8}"/>
            </c:ext>
          </c:extLst>
        </c:ser>
        <c:dLbls>
          <c:dLblPos val="t"/>
          <c:showLegendKey val="0"/>
          <c:showVal val="1"/>
          <c:showCatName val="0"/>
          <c:showSerName val="0"/>
          <c:showPercent val="0"/>
          <c:showBubbleSize val="0"/>
        </c:dLbls>
        <c:smooth val="0"/>
        <c:axId val="871761760"/>
        <c:axId val="871762120"/>
      </c:lineChart>
      <c:catAx>
        <c:axId val="87176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1762120"/>
        <c:crosses val="autoZero"/>
        <c:auto val="1"/>
        <c:lblAlgn val="ctr"/>
        <c:lblOffset val="100"/>
        <c:noMultiLvlLbl val="0"/>
      </c:catAx>
      <c:valAx>
        <c:axId val="87176212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bg1"/>
                </a:solidFill>
                <a:latin typeface="+mn-lt"/>
                <a:ea typeface="+mn-ea"/>
                <a:cs typeface="+mn-cs"/>
              </a:defRPr>
            </a:pPr>
            <a:endParaRPr lang="en-AS"/>
          </a:p>
        </c:txPr>
        <c:crossAx val="871761760"/>
        <c:crosses val="autoZero"/>
        <c:crossBetween val="between"/>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A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A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A4268996-790D-4EEB-ABD3-3D2A81972D9D}" type="datetimeFigureOut">
              <a:rPr lang="en-AS" smtClean="0"/>
              <a:t>5/26/2025</a:t>
            </a:fld>
            <a:endParaRPr lang="en-A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A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S"/>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A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33FB5EFE-4336-433A-B240-8A98A0580BA2}" type="slidenum">
              <a:rPr lang="en-AS" smtClean="0"/>
              <a:t>‹#›</a:t>
            </a:fld>
            <a:endParaRPr lang="en-AS"/>
          </a:p>
        </p:txBody>
      </p:sp>
    </p:spTree>
    <p:extLst>
      <p:ext uri="{BB962C8B-B14F-4D97-AF65-F5344CB8AC3E}">
        <p14:creationId xmlns:p14="http://schemas.microsoft.com/office/powerpoint/2010/main" val="323119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S" dirty="0"/>
          </a:p>
        </p:txBody>
      </p:sp>
      <p:sp>
        <p:nvSpPr>
          <p:cNvPr id="4" name="Slide Number Placeholder 3"/>
          <p:cNvSpPr>
            <a:spLocks noGrp="1"/>
          </p:cNvSpPr>
          <p:nvPr>
            <p:ph type="sldNum" sz="quarter" idx="5"/>
          </p:nvPr>
        </p:nvSpPr>
        <p:spPr/>
        <p:txBody>
          <a:bodyPr/>
          <a:lstStyle/>
          <a:p>
            <a:fld id="{33FB5EFE-4336-433A-B240-8A98A0580BA2}" type="slidenum">
              <a:rPr lang="en-AS" smtClean="0"/>
              <a:t>6</a:t>
            </a:fld>
            <a:endParaRPr lang="en-AS"/>
          </a:p>
        </p:txBody>
      </p:sp>
    </p:spTree>
    <p:extLst>
      <p:ext uri="{BB962C8B-B14F-4D97-AF65-F5344CB8AC3E}">
        <p14:creationId xmlns:p14="http://schemas.microsoft.com/office/powerpoint/2010/main" val="2775166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S" dirty="0"/>
          </a:p>
        </p:txBody>
      </p:sp>
      <p:sp>
        <p:nvSpPr>
          <p:cNvPr id="4" name="Slide Number Placeholder 3"/>
          <p:cNvSpPr>
            <a:spLocks noGrp="1"/>
          </p:cNvSpPr>
          <p:nvPr>
            <p:ph type="sldNum" sz="quarter" idx="5"/>
          </p:nvPr>
        </p:nvSpPr>
        <p:spPr/>
        <p:txBody>
          <a:bodyPr/>
          <a:lstStyle/>
          <a:p>
            <a:fld id="{33FB5EFE-4336-433A-B240-8A98A0580BA2}" type="slidenum">
              <a:rPr lang="en-AS" smtClean="0"/>
              <a:t>7</a:t>
            </a:fld>
            <a:endParaRPr lang="en-AS"/>
          </a:p>
        </p:txBody>
      </p:sp>
    </p:spTree>
    <p:extLst>
      <p:ext uri="{BB962C8B-B14F-4D97-AF65-F5344CB8AC3E}">
        <p14:creationId xmlns:p14="http://schemas.microsoft.com/office/powerpoint/2010/main" val="1074752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8000" b="1" i="0">
                <a:solidFill>
                  <a:schemeClr val="bg1"/>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000" b="0" i="0">
                <a:solidFill>
                  <a:schemeClr val="bg1"/>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chemeClr val="bg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chemeClr val="bg1"/>
                </a:solidFill>
                <a:latin typeface="Montserrat"/>
                <a:cs typeface="Montserra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chemeClr val="bg1"/>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000" b="1" i="0">
                <a:solidFill>
                  <a:schemeClr val="bg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1000">
              <a:schemeClr val="tx2">
                <a:lumMod val="50000"/>
              </a:schemeClr>
            </a:gs>
            <a:gs pos="100000">
              <a:schemeClr val="tx2">
                <a:lumMod val="50000"/>
              </a:schemeClr>
            </a:gs>
          </a:gsLst>
          <a:lin ang="5400000" scaled="1"/>
          <a:tileRect/>
        </a:gra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16000" y="2359648"/>
            <a:ext cx="8053070" cy="2139950"/>
          </a:xfrm>
          <a:prstGeom prst="rect">
            <a:avLst/>
          </a:prstGeom>
        </p:spPr>
        <p:txBody>
          <a:bodyPr wrap="square" lIns="0" tIns="0" rIns="0" bIns="0">
            <a:spAutoFit/>
          </a:bodyPr>
          <a:lstStyle>
            <a:lvl1pPr>
              <a:defRPr sz="8000" b="1" i="0">
                <a:solidFill>
                  <a:schemeClr val="bg1"/>
                </a:solidFill>
                <a:latin typeface="Tahoma"/>
                <a:cs typeface="Tahoma"/>
              </a:defRPr>
            </a:lvl1pPr>
          </a:lstStyle>
          <a:p>
            <a:endParaRPr/>
          </a:p>
        </p:txBody>
      </p:sp>
      <p:sp>
        <p:nvSpPr>
          <p:cNvPr id="3" name="Holder 3"/>
          <p:cNvSpPr>
            <a:spLocks noGrp="1"/>
          </p:cNvSpPr>
          <p:nvPr>
            <p:ph type="body" idx="1"/>
          </p:nvPr>
        </p:nvSpPr>
        <p:spPr>
          <a:xfrm>
            <a:off x="1016000" y="4703090"/>
            <a:ext cx="8154670" cy="3263900"/>
          </a:xfrm>
          <a:prstGeom prst="rect">
            <a:avLst/>
          </a:prstGeom>
        </p:spPr>
        <p:txBody>
          <a:bodyPr wrap="square" lIns="0" tIns="0" rIns="0" bIns="0">
            <a:spAutoFit/>
          </a:bodyPr>
          <a:lstStyle>
            <a:lvl1pPr>
              <a:defRPr sz="2000" b="0" i="0">
                <a:solidFill>
                  <a:schemeClr val="bg1"/>
                </a:solidFill>
                <a:latin typeface="Montserrat"/>
                <a:cs typeface="Montserrat"/>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5/26/2025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11.jp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6.pn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8.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24.png"/><Relationship Id="rId5" Type="http://schemas.openxmlformats.org/officeDocument/2006/relationships/image" Target="../media/image7.png"/><Relationship Id="rId10" Type="http://schemas.openxmlformats.org/officeDocument/2006/relationships/image" Target="../media/image23.png"/><Relationship Id="rId4" Type="http://schemas.openxmlformats.org/officeDocument/2006/relationships/image" Target="../media/image6.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chart" Target="../charts/char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8287997" cy="10286999"/>
            <a:chOff x="0" y="0"/>
            <a:chExt cx="18287997" cy="10286999"/>
          </a:xfrm>
        </p:grpSpPr>
        <p:pic>
          <p:nvPicPr>
            <p:cNvPr id="3" name="object 3"/>
            <p:cNvPicPr/>
            <p:nvPr/>
          </p:nvPicPr>
          <p:blipFill>
            <a:blip r:embed="rId2" cstate="print"/>
            <a:stretch>
              <a:fillRect/>
            </a:stretch>
          </p:blipFill>
          <p:spPr>
            <a:xfrm>
              <a:off x="0" y="0"/>
              <a:ext cx="18287997" cy="10286999"/>
            </a:xfrm>
            <a:prstGeom prst="rect">
              <a:avLst/>
            </a:prstGeom>
          </p:spPr>
        </p:pic>
        <p:pic>
          <p:nvPicPr>
            <p:cNvPr id="5" name="object 5"/>
            <p:cNvPicPr/>
            <p:nvPr/>
          </p:nvPicPr>
          <p:blipFill>
            <a:blip r:embed="rId3" cstate="print"/>
            <a:stretch>
              <a:fillRect/>
            </a:stretch>
          </p:blipFill>
          <p:spPr>
            <a:xfrm>
              <a:off x="10953156" y="2928566"/>
              <a:ext cx="5253409" cy="4549215"/>
            </a:xfrm>
            <a:prstGeom prst="rect">
              <a:avLst/>
            </a:prstGeom>
          </p:spPr>
        </p:pic>
        <p:sp>
          <p:nvSpPr>
            <p:cNvPr id="6" name="object 6"/>
            <p:cNvSpPr/>
            <p:nvPr/>
          </p:nvSpPr>
          <p:spPr>
            <a:xfrm>
              <a:off x="10953196" y="2928566"/>
              <a:ext cx="5253355" cy="4549140"/>
            </a:xfrm>
            <a:custGeom>
              <a:avLst/>
              <a:gdLst/>
              <a:ahLst/>
              <a:cxnLst/>
              <a:rect l="l" t="t" r="r" b="b"/>
              <a:pathLst>
                <a:path w="5253355" h="4549140">
                  <a:moveTo>
                    <a:pt x="3939939" y="0"/>
                  </a:moveTo>
                  <a:lnTo>
                    <a:pt x="1313313" y="0"/>
                  </a:lnTo>
                  <a:lnTo>
                    <a:pt x="0" y="2274539"/>
                  </a:lnTo>
                  <a:lnTo>
                    <a:pt x="1313313" y="4549079"/>
                  </a:lnTo>
                  <a:lnTo>
                    <a:pt x="3939939" y="4549079"/>
                  </a:lnTo>
                  <a:lnTo>
                    <a:pt x="5253253" y="2274539"/>
                  </a:lnTo>
                  <a:lnTo>
                    <a:pt x="3939939" y="0"/>
                  </a:lnTo>
                </a:path>
              </a:pathLst>
            </a:custGeom>
            <a:ln w="361949">
              <a:solidFill>
                <a:srgbClr val="FFFFFF"/>
              </a:solidFill>
            </a:ln>
          </p:spPr>
          <p:txBody>
            <a:bodyPr wrap="square" lIns="0" tIns="0" rIns="0" bIns="0" rtlCol="0"/>
            <a:lstStyle/>
            <a:p>
              <a:endParaRPr/>
            </a:p>
          </p:txBody>
        </p:sp>
      </p:grpSp>
      <p:sp>
        <p:nvSpPr>
          <p:cNvPr id="7" name="object 7"/>
          <p:cNvSpPr txBox="1">
            <a:spLocks noGrp="1"/>
          </p:cNvSpPr>
          <p:nvPr>
            <p:ph type="title"/>
          </p:nvPr>
        </p:nvSpPr>
        <p:spPr>
          <a:xfrm>
            <a:off x="0" y="810523"/>
            <a:ext cx="11963400" cy="1358770"/>
          </a:xfrm>
          <a:prstGeom prst="rect">
            <a:avLst/>
          </a:prstGeom>
          <a:noFill/>
          <a:effectLst>
            <a:outerShdw blurRad="50800" dist="38100" dir="2700000" algn="tl" rotWithShape="0">
              <a:prstClr val="black">
                <a:alpha val="40000"/>
              </a:prstClr>
            </a:outerShdw>
          </a:effectLst>
        </p:spPr>
        <p:txBody>
          <a:bodyPr vert="horz" wrap="square" lIns="0" tIns="11430" rIns="0" bIns="0" rtlCol="0">
            <a:spAutoFit/>
          </a:bodyPr>
          <a:lstStyle/>
          <a:p>
            <a:pPr marL="12700" algn="ctr">
              <a:lnSpc>
                <a:spcPts val="11650"/>
              </a:lnSpc>
              <a:spcBef>
                <a:spcPts val="90"/>
              </a:spcBef>
            </a:pPr>
            <a:r>
              <a:rPr lang="en-GB" dirty="0">
                <a:effectLst>
                  <a:outerShdw blurRad="50800" dist="50800" dir="5400000" algn="ctr" rotWithShape="0">
                    <a:schemeClr val="bg1">
                      <a:lumMod val="75000"/>
                    </a:schemeClr>
                  </a:outerShdw>
                </a:effectLst>
              </a:rPr>
              <a:t>Sales Dataset Analysis</a:t>
            </a:r>
            <a:endParaRPr dirty="0">
              <a:solidFill>
                <a:schemeClr val="bg1">
                  <a:lumMod val="85000"/>
                </a:schemeClr>
              </a:solidFill>
              <a:effectLst>
                <a:outerShdw blurRad="50800" dist="50800" dir="5400000" sy="30000" kx="1300200" algn="ctr" rotWithShape="0">
                  <a:schemeClr val="bg1">
                    <a:lumMod val="75000"/>
                  </a:schemeClr>
                </a:outerShdw>
              </a:effectLst>
              <a:latin typeface="Arial Rounded MT Bold" panose="020F0704030504030204" pitchFamily="34" charset="0"/>
            </a:endParaRPr>
          </a:p>
        </p:txBody>
      </p:sp>
      <p:grpSp>
        <p:nvGrpSpPr>
          <p:cNvPr id="8" name="object 8"/>
          <p:cNvGrpSpPr/>
          <p:nvPr/>
        </p:nvGrpSpPr>
        <p:grpSpPr>
          <a:xfrm>
            <a:off x="8804273" y="943001"/>
            <a:ext cx="9315450" cy="8034655"/>
            <a:chOff x="8804273" y="943001"/>
            <a:chExt cx="9315450" cy="8034655"/>
          </a:xfrm>
        </p:grpSpPr>
        <p:pic>
          <p:nvPicPr>
            <p:cNvPr id="9" name="object 9"/>
            <p:cNvPicPr/>
            <p:nvPr/>
          </p:nvPicPr>
          <p:blipFill>
            <a:blip r:embed="rId4" cstate="print"/>
            <a:stretch>
              <a:fillRect/>
            </a:stretch>
          </p:blipFill>
          <p:spPr>
            <a:xfrm>
              <a:off x="14768116" y="1028699"/>
              <a:ext cx="3265882" cy="2828107"/>
            </a:xfrm>
            <a:prstGeom prst="rect">
              <a:avLst/>
            </a:prstGeom>
          </p:spPr>
        </p:pic>
        <p:sp>
          <p:nvSpPr>
            <p:cNvPr id="10" name="object 10"/>
            <p:cNvSpPr/>
            <p:nvPr/>
          </p:nvSpPr>
          <p:spPr>
            <a:xfrm>
              <a:off x="14768116" y="1028726"/>
              <a:ext cx="3265804" cy="2828290"/>
            </a:xfrm>
            <a:custGeom>
              <a:avLst/>
              <a:gdLst/>
              <a:ahLst/>
              <a:cxnLst/>
              <a:rect l="l" t="t" r="r" b="b"/>
              <a:pathLst>
                <a:path w="3265805" h="2828290">
                  <a:moveTo>
                    <a:pt x="2449301" y="0"/>
                  </a:moveTo>
                  <a:lnTo>
                    <a:pt x="816433" y="0"/>
                  </a:lnTo>
                  <a:lnTo>
                    <a:pt x="0" y="1413989"/>
                  </a:lnTo>
                  <a:lnTo>
                    <a:pt x="816433" y="2827979"/>
                  </a:lnTo>
                  <a:lnTo>
                    <a:pt x="2449301" y="2827979"/>
                  </a:lnTo>
                  <a:lnTo>
                    <a:pt x="3265735" y="1413989"/>
                  </a:lnTo>
                  <a:lnTo>
                    <a:pt x="2449301" y="0"/>
                  </a:lnTo>
                </a:path>
              </a:pathLst>
            </a:custGeom>
            <a:ln w="171449">
              <a:solidFill>
                <a:srgbClr val="FFFFFF"/>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8889999" y="6063727"/>
              <a:ext cx="3265882" cy="2828107"/>
            </a:xfrm>
            <a:prstGeom prst="rect">
              <a:avLst/>
            </a:prstGeom>
          </p:spPr>
        </p:pic>
        <p:sp>
          <p:nvSpPr>
            <p:cNvPr id="12" name="object 12"/>
            <p:cNvSpPr/>
            <p:nvPr/>
          </p:nvSpPr>
          <p:spPr>
            <a:xfrm>
              <a:off x="8889998" y="6063754"/>
              <a:ext cx="3265804" cy="2828290"/>
            </a:xfrm>
            <a:custGeom>
              <a:avLst/>
              <a:gdLst/>
              <a:ahLst/>
              <a:cxnLst/>
              <a:rect l="l" t="t" r="r" b="b"/>
              <a:pathLst>
                <a:path w="3265804" h="2828290">
                  <a:moveTo>
                    <a:pt x="2449301" y="0"/>
                  </a:moveTo>
                  <a:lnTo>
                    <a:pt x="816433" y="0"/>
                  </a:lnTo>
                  <a:lnTo>
                    <a:pt x="0" y="1413989"/>
                  </a:lnTo>
                  <a:lnTo>
                    <a:pt x="816433" y="2827979"/>
                  </a:lnTo>
                  <a:lnTo>
                    <a:pt x="2449301" y="2827979"/>
                  </a:lnTo>
                  <a:lnTo>
                    <a:pt x="3265735" y="1413989"/>
                  </a:lnTo>
                  <a:lnTo>
                    <a:pt x="2449301" y="0"/>
                  </a:lnTo>
                </a:path>
              </a:pathLst>
            </a:custGeom>
            <a:ln w="171449">
              <a:solidFill>
                <a:srgbClr val="FFFFFF"/>
              </a:solidFill>
            </a:ln>
          </p:spPr>
          <p:txBody>
            <a:bodyPr wrap="square" lIns="0" tIns="0" rIns="0" bIns="0" rtlCol="0"/>
            <a:lstStyle/>
            <a:p>
              <a:endParaRPr/>
            </a:p>
          </p:txBody>
        </p:sp>
      </p:grpSp>
      <p:sp>
        <p:nvSpPr>
          <p:cNvPr id="16" name="Rectangle 15">
            <a:extLst>
              <a:ext uri="{FF2B5EF4-FFF2-40B4-BE49-F238E27FC236}">
                <a16:creationId xmlns:a16="http://schemas.microsoft.com/office/drawing/2014/main" id="{F0381479-CDEB-75A9-A3D7-F4DDDC7C7362}"/>
              </a:ext>
            </a:extLst>
          </p:cNvPr>
          <p:cNvSpPr/>
          <p:nvPr/>
        </p:nvSpPr>
        <p:spPr>
          <a:xfrm>
            <a:off x="4114800" y="4762500"/>
            <a:ext cx="3962400" cy="4343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AS"/>
          </a:p>
        </p:txBody>
      </p:sp>
      <p:sp>
        <p:nvSpPr>
          <p:cNvPr id="18" name="Rectangle 17">
            <a:extLst>
              <a:ext uri="{FF2B5EF4-FFF2-40B4-BE49-F238E27FC236}">
                <a16:creationId xmlns:a16="http://schemas.microsoft.com/office/drawing/2014/main" id="{BAC52358-4EA0-D992-E101-A07D0E3DEE41}"/>
              </a:ext>
            </a:extLst>
          </p:cNvPr>
          <p:cNvSpPr/>
          <p:nvPr/>
        </p:nvSpPr>
        <p:spPr>
          <a:xfrm>
            <a:off x="3657600" y="6248400"/>
            <a:ext cx="4648200" cy="4038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dirty="0">
                <a:latin typeface="Arial Rounded MT Bold" panose="020F0704030504030204" pitchFamily="34" charset="0"/>
              </a:rPr>
              <a:t>DEEPA .G</a:t>
            </a:r>
          </a:p>
          <a:p>
            <a:pPr algn="ctr"/>
            <a:r>
              <a:rPr lang="en-GB" sz="4800" dirty="0">
                <a:latin typeface="Arial Rounded MT Bold" panose="020F0704030504030204" pitchFamily="34" charset="0"/>
              </a:rPr>
              <a:t>27/05/2025</a:t>
            </a:r>
          </a:p>
          <a:p>
            <a:pPr algn="ctr"/>
            <a:r>
              <a:rPr lang="en-GB" sz="4800" dirty="0">
                <a:latin typeface="Arial Rounded MT Bold" panose="020F0704030504030204" pitchFamily="34" charset="0"/>
              </a:rPr>
              <a:t> DADS &amp; APRIL 2025</a:t>
            </a:r>
            <a:endParaRPr lang="en-AS" sz="4800" dirty="0">
              <a:latin typeface="Arial Rounded MT Bold" panose="020F0704030504030204" pitchFamily="34"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 calcmode="lin" valueType="num">
                                      <p:cBhvr additive="base">
                                        <p:cTn id="26"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8">
                                            <p:txEl>
                                              <p:pRg st="1" end="1"/>
                                            </p:txEl>
                                          </p:spTgt>
                                        </p:tgtEl>
                                        <p:attrNameLst>
                                          <p:attrName>style.visibility</p:attrName>
                                        </p:attrNameLst>
                                      </p:cBhvr>
                                      <p:to>
                                        <p:strVal val="visible"/>
                                      </p:to>
                                    </p:set>
                                    <p:anim calcmode="lin" valueType="num">
                                      <p:cBhvr additive="base">
                                        <p:cTn id="32"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8">
                                            <p:txEl>
                                              <p:pRg st="2" end="2"/>
                                            </p:txEl>
                                          </p:spTgt>
                                        </p:tgtEl>
                                        <p:attrNameLst>
                                          <p:attrName>style.visibility</p:attrName>
                                        </p:attrNameLst>
                                      </p:cBhvr>
                                      <p:to>
                                        <p:strVal val="visible"/>
                                      </p:to>
                                    </p:set>
                                    <p:anim calcmode="lin" valueType="num">
                                      <p:cBhvr additive="base">
                                        <p:cTn id="38"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7"/>
          <p:cNvGrpSpPr/>
          <p:nvPr/>
        </p:nvGrpSpPr>
        <p:grpSpPr>
          <a:xfrm>
            <a:off x="0" y="8653249"/>
            <a:ext cx="6275705" cy="1210310"/>
            <a:chOff x="0" y="8653249"/>
            <a:chExt cx="6275705" cy="1210310"/>
          </a:xfrm>
        </p:grpSpPr>
        <p:pic>
          <p:nvPicPr>
            <p:cNvPr id="8" name="object 8"/>
            <p:cNvPicPr/>
            <p:nvPr/>
          </p:nvPicPr>
          <p:blipFill>
            <a:blip r:embed="rId2" cstate="print"/>
            <a:stretch>
              <a:fillRect/>
            </a:stretch>
          </p:blipFill>
          <p:spPr>
            <a:xfrm>
              <a:off x="5291711" y="9061481"/>
              <a:ext cx="983771" cy="800402"/>
            </a:xfrm>
            <a:prstGeom prst="rect">
              <a:avLst/>
            </a:prstGeom>
          </p:spPr>
        </p:pic>
        <p:pic>
          <p:nvPicPr>
            <p:cNvPr id="9" name="object 9"/>
            <p:cNvPicPr/>
            <p:nvPr/>
          </p:nvPicPr>
          <p:blipFill>
            <a:blip r:embed="rId3" cstate="print"/>
            <a:stretch>
              <a:fillRect/>
            </a:stretch>
          </p:blipFill>
          <p:spPr>
            <a:xfrm>
              <a:off x="0" y="8653249"/>
              <a:ext cx="5309111" cy="1209972"/>
            </a:xfrm>
            <a:prstGeom prst="rect">
              <a:avLst/>
            </a:prstGeom>
          </p:spPr>
        </p:pic>
      </p:grpSp>
      <p:grpSp>
        <p:nvGrpSpPr>
          <p:cNvPr id="10" name="object 10"/>
          <p:cNvGrpSpPr/>
          <p:nvPr/>
        </p:nvGrpSpPr>
        <p:grpSpPr>
          <a:xfrm>
            <a:off x="12103836" y="390676"/>
            <a:ext cx="6184265" cy="1210310"/>
            <a:chOff x="12103836" y="390676"/>
            <a:chExt cx="6184265" cy="1210310"/>
          </a:xfrm>
        </p:grpSpPr>
        <p:pic>
          <p:nvPicPr>
            <p:cNvPr id="11" name="object 11"/>
            <p:cNvPicPr/>
            <p:nvPr/>
          </p:nvPicPr>
          <p:blipFill>
            <a:blip r:embed="rId4" cstate="print"/>
            <a:stretch>
              <a:fillRect/>
            </a:stretch>
          </p:blipFill>
          <p:spPr>
            <a:xfrm>
              <a:off x="17812391" y="894425"/>
              <a:ext cx="475608" cy="704885"/>
            </a:xfrm>
            <a:prstGeom prst="rect">
              <a:avLst/>
            </a:prstGeom>
          </p:spPr>
        </p:pic>
        <p:pic>
          <p:nvPicPr>
            <p:cNvPr id="12" name="object 12"/>
            <p:cNvPicPr/>
            <p:nvPr/>
          </p:nvPicPr>
          <p:blipFill>
            <a:blip r:embed="rId5" cstate="print"/>
            <a:stretch>
              <a:fillRect/>
            </a:stretch>
          </p:blipFill>
          <p:spPr>
            <a:xfrm>
              <a:off x="12103836" y="390676"/>
              <a:ext cx="5725954" cy="1209972"/>
            </a:xfrm>
            <a:prstGeom prst="rect">
              <a:avLst/>
            </a:prstGeom>
          </p:spPr>
        </p:pic>
      </p:grpSp>
      <p:sp>
        <p:nvSpPr>
          <p:cNvPr id="13" name="object 13"/>
          <p:cNvSpPr txBox="1">
            <a:spLocks noGrp="1"/>
          </p:cNvSpPr>
          <p:nvPr>
            <p:ph type="title"/>
          </p:nvPr>
        </p:nvSpPr>
        <p:spPr>
          <a:xfrm>
            <a:off x="602077" y="533153"/>
            <a:ext cx="11404600" cy="1077218"/>
          </a:xfrm>
          <a:prstGeom prst="rect">
            <a:avLst/>
          </a:prstGeom>
          <a:noFill/>
          <a:effectLst>
            <a:outerShdw blurRad="63500" sx="102000" sy="102000" algn="ctr" rotWithShape="0">
              <a:prstClr val="black">
                <a:alpha val="40000"/>
              </a:prstClr>
            </a:outerShdw>
          </a:effectLst>
        </p:spPr>
        <p:txBody>
          <a:bodyPr vert="horz" wrap="square" lIns="0" tIns="12700" rIns="0" bIns="0" rtlCol="0">
            <a:spAutoFit/>
          </a:bodyPr>
          <a:lstStyle/>
          <a:p>
            <a:pPr marL="12700">
              <a:lnSpc>
                <a:spcPts val="8325"/>
              </a:lnSpc>
              <a:spcBef>
                <a:spcPts val="100"/>
              </a:spcBef>
            </a:pPr>
            <a:r>
              <a:rPr lang="en-GB" dirty="0">
                <a:effectLst>
                  <a:outerShdw blurRad="50800" dist="38100" dir="5400000" algn="t" rotWithShape="0">
                    <a:prstClr val="black">
                      <a:alpha val="40000"/>
                    </a:prstClr>
                  </a:outerShdw>
                </a:effectLst>
              </a:rPr>
              <a:t>Project Overview</a:t>
            </a:r>
            <a:endParaRPr spc="-1095" dirty="0">
              <a:effectLst>
                <a:outerShdw blurRad="50800" dist="38100" dir="5400000" algn="t" rotWithShape="0">
                  <a:prstClr val="black">
                    <a:alpha val="40000"/>
                  </a:prstClr>
                </a:outerShdw>
              </a:effectLst>
            </a:endParaRPr>
          </a:p>
        </p:txBody>
      </p:sp>
      <p:sp>
        <p:nvSpPr>
          <p:cNvPr id="65" name="Rectangle 1">
            <a:extLst>
              <a:ext uri="{FF2B5EF4-FFF2-40B4-BE49-F238E27FC236}">
                <a16:creationId xmlns:a16="http://schemas.microsoft.com/office/drawing/2014/main" id="{1253CCA8-0AC0-3518-79D0-8A9FCEA78A38}"/>
              </a:ext>
            </a:extLst>
          </p:cNvPr>
          <p:cNvSpPr>
            <a:spLocks noGrp="1" noChangeArrowheads="1"/>
          </p:cNvSpPr>
          <p:nvPr>
            <p:ph type="body" idx="1"/>
          </p:nvPr>
        </p:nvSpPr>
        <p:spPr bwMode="auto">
          <a:xfrm>
            <a:off x="1001743" y="2939933"/>
            <a:ext cx="1054747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GB" sz="3200" b="1" dirty="0">
                <a:latin typeface="Microsoft JhengHei UI Light" panose="020B0304030504040204" pitchFamily="34" charset="-120"/>
                <a:ea typeface="Microsoft JhengHei UI Light" panose="020B0304030504040204" pitchFamily="34" charset="-120"/>
              </a:rPr>
              <a:t>The main goal of this project is to carefully study sales data to find patterns and trends that can help us understand how well the business is performing. By looking at past sales numbers, we can see which products are selling the most, which times of the year are best for sales, and what areas might need improvement. This analysis will help the company make better decisions, improve sales strategies, and plan for the future. In simple terms, this project helps turn sales data into useful information that the business can use to grow and succeed.</a:t>
            </a:r>
            <a:endParaRPr kumimoji="0" lang="en-AS" altLang="en-AS" sz="3200" b="1" i="0" u="none" strike="noStrike" cap="none" normalizeH="0" baseline="0" dirty="0">
              <a:ln>
                <a:noFill/>
              </a:ln>
              <a:effectLst/>
              <a:latin typeface="Microsoft JhengHei UI Light" panose="020B0304030504040204" pitchFamily="34" charset="-120"/>
              <a:ea typeface="Microsoft JhengHei UI Light" panose="020B0304030504040204" pitchFamily="34" charset="-120"/>
            </a:endParaRPr>
          </a:p>
        </p:txBody>
      </p:sp>
      <p:pic>
        <p:nvPicPr>
          <p:cNvPr id="67" name="Picture 66">
            <a:extLst>
              <a:ext uri="{FF2B5EF4-FFF2-40B4-BE49-F238E27FC236}">
                <a16:creationId xmlns:a16="http://schemas.microsoft.com/office/drawing/2014/main" id="{9BFD7527-B21A-E799-D181-ACFBC5334BD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06677" y="2536431"/>
            <a:ext cx="5725955" cy="521413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5">
                                            <p:txEl>
                                              <p:pRg st="0" end="0"/>
                                            </p:txEl>
                                          </p:spTgt>
                                        </p:tgtEl>
                                        <p:attrNameLst>
                                          <p:attrName>style.visibility</p:attrName>
                                        </p:attrNameLst>
                                      </p:cBhvr>
                                      <p:to>
                                        <p:strVal val="visible"/>
                                      </p:to>
                                    </p:set>
                                    <p:anim calcmode="lin" valueType="num">
                                      <p:cBhvr>
                                        <p:cTn id="13" dur="500" fill="hold"/>
                                        <p:tgtEl>
                                          <p:spTgt spid="65">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65">
                                            <p:txEl>
                                              <p:pRg st="0" end="0"/>
                                            </p:txEl>
                                          </p:spTgt>
                                        </p:tgtEl>
                                        <p:attrNameLst>
                                          <p:attrName>ppt_h</p:attrName>
                                        </p:attrNameLst>
                                      </p:cBhvr>
                                      <p:tavLst>
                                        <p:tav tm="0">
                                          <p:val>
                                            <p:fltVal val="0"/>
                                          </p:val>
                                        </p:tav>
                                        <p:tav tm="100000">
                                          <p:val>
                                            <p:strVal val="#ppt_h"/>
                                          </p:val>
                                        </p:tav>
                                      </p:tavLst>
                                    </p:anim>
                                    <p:animEffect transition="in" filter="fade">
                                      <p:cBhvr>
                                        <p:cTn id="15" dur="500"/>
                                        <p:tgtEl>
                                          <p:spTgt spid="6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12" fill="hold" nodeType="clickEffect">
                                  <p:stCondLst>
                                    <p:cond delay="0"/>
                                  </p:stCondLst>
                                  <p:childTnLst>
                                    <p:set>
                                      <p:cBhvr>
                                        <p:cTn id="19" dur="1" fill="hold">
                                          <p:stCondLst>
                                            <p:cond delay="0"/>
                                          </p:stCondLst>
                                        </p:cTn>
                                        <p:tgtEl>
                                          <p:spTgt spid="67"/>
                                        </p:tgtEl>
                                        <p:attrNameLst>
                                          <p:attrName>style.visibility</p:attrName>
                                        </p:attrNameLst>
                                      </p:cBhvr>
                                      <p:to>
                                        <p:strVal val="visible"/>
                                      </p:to>
                                    </p:set>
                                    <p:anim calcmode="lin" valueType="num">
                                      <p:cBhvr additive="base">
                                        <p:cTn id="20" dur="500" fill="hold"/>
                                        <p:tgtEl>
                                          <p:spTgt spid="67"/>
                                        </p:tgtEl>
                                        <p:attrNameLst>
                                          <p:attrName>ppt_x</p:attrName>
                                        </p:attrNameLst>
                                      </p:cBhvr>
                                      <p:tavLst>
                                        <p:tav tm="0">
                                          <p:val>
                                            <p:strVal val="0-#ppt_w/2"/>
                                          </p:val>
                                        </p:tav>
                                        <p:tav tm="100000">
                                          <p:val>
                                            <p:strVal val="#ppt_x"/>
                                          </p:val>
                                        </p:tav>
                                      </p:tavLst>
                                    </p:anim>
                                    <p:anim calcmode="lin" valueType="num">
                                      <p:cBhvr additive="base">
                                        <p:cTn id="21"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C0BF-A500-BD33-FAE7-0DBF7ACA80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667B53-12FD-6CC8-A2FF-2766E707AE02}"/>
              </a:ext>
            </a:extLst>
          </p:cNvPr>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a:p>
        </p:txBody>
      </p:sp>
      <p:grpSp>
        <p:nvGrpSpPr>
          <p:cNvPr id="7" name="object 7">
            <a:extLst>
              <a:ext uri="{FF2B5EF4-FFF2-40B4-BE49-F238E27FC236}">
                <a16:creationId xmlns:a16="http://schemas.microsoft.com/office/drawing/2014/main" id="{17F06907-5895-EEDE-5673-C0DA1CFBDED1}"/>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A7E53E6F-535D-A1CC-4225-50222BD76463}"/>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65414CF6-8F38-BCDF-EBF5-AD092D7E9C42}"/>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3BEB0F41-EA42-04B1-7F76-B81614BDB221}"/>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2588D0F5-AB8C-55C7-6238-F7427CC7562E}"/>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436DA47E-9950-AB27-0289-A688FD488E0E}"/>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20DEBFCE-FBC2-D4E8-08C8-746714D04033}"/>
              </a:ext>
            </a:extLst>
          </p:cNvPr>
          <p:cNvSpPr txBox="1">
            <a:spLocks noGrp="1"/>
          </p:cNvSpPr>
          <p:nvPr>
            <p:ph type="title"/>
          </p:nvPr>
        </p:nvSpPr>
        <p:spPr>
          <a:xfrm>
            <a:off x="1008626" y="1060701"/>
            <a:ext cx="8053070" cy="1077218"/>
          </a:xfrm>
          <a:prstGeom prst="rect">
            <a:avLst/>
          </a:prstGeom>
        </p:spPr>
        <p:txBody>
          <a:bodyPr vert="horz" wrap="square" lIns="0" tIns="12700" rIns="0" bIns="0" rtlCol="0">
            <a:spAutoFit/>
          </a:bodyPr>
          <a:lstStyle/>
          <a:p>
            <a:pPr marL="12700">
              <a:lnSpc>
                <a:spcPts val="8325"/>
              </a:lnSpc>
              <a:spcBef>
                <a:spcPts val="100"/>
              </a:spcBef>
            </a:pPr>
            <a:r>
              <a:rPr lang="en-GB" dirty="0"/>
              <a:t>KEY METRICS</a:t>
            </a:r>
            <a:endParaRPr spc="-515" dirty="0"/>
          </a:p>
        </p:txBody>
      </p:sp>
      <p:sp>
        <p:nvSpPr>
          <p:cNvPr id="14" name="object 14">
            <a:extLst>
              <a:ext uri="{FF2B5EF4-FFF2-40B4-BE49-F238E27FC236}">
                <a16:creationId xmlns:a16="http://schemas.microsoft.com/office/drawing/2014/main" id="{6B795BEA-846C-45CC-72D1-76769C3B1E42}"/>
              </a:ext>
            </a:extLst>
          </p:cNvPr>
          <p:cNvSpPr txBox="1">
            <a:spLocks noGrp="1"/>
          </p:cNvSpPr>
          <p:nvPr>
            <p:ph type="body" idx="1"/>
          </p:nvPr>
        </p:nvSpPr>
        <p:spPr>
          <a:xfrm>
            <a:off x="1043039" y="3024165"/>
            <a:ext cx="11493624" cy="4155625"/>
          </a:xfrm>
          <a:prstGeom prst="rect">
            <a:avLst/>
          </a:prstGeom>
        </p:spPr>
        <p:txBody>
          <a:bodyPr vert="horz" wrap="square" lIns="0" tIns="12065" rIns="0" bIns="0" rtlCol="0">
            <a:spAutoFit/>
          </a:bodyPr>
          <a:lstStyle/>
          <a:p>
            <a:pPr marL="12700" marR="5080" algn="just">
              <a:lnSpc>
                <a:spcPct val="106300"/>
              </a:lnSpc>
              <a:spcBef>
                <a:spcPts val="95"/>
              </a:spcBef>
            </a:pPr>
            <a:r>
              <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rPr>
              <a:t>the key goals of the analysis, such as: </a:t>
            </a:r>
          </a:p>
          <a:p>
            <a:pPr marL="12700" marR="5080" algn="just">
              <a:lnSpc>
                <a:spcPct val="106300"/>
              </a:lnSpc>
              <a:spcBef>
                <a:spcPts val="95"/>
              </a:spcBef>
            </a:pPr>
            <a:endPar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2700" marR="5080" algn="just">
              <a:lnSpc>
                <a:spcPct val="106300"/>
              </a:lnSpc>
              <a:spcBef>
                <a:spcPts val="95"/>
              </a:spcBef>
            </a:pPr>
            <a:endPar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584200" marR="5080" indent="-571500" algn="just">
              <a:lnSpc>
                <a:spcPct val="106300"/>
              </a:lnSpc>
              <a:spcBef>
                <a:spcPts val="95"/>
              </a:spcBef>
              <a:buFont typeface="Wingdings" panose="05000000000000000000" pitchFamily="2" charset="2"/>
              <a:buChar char="ü"/>
            </a:pPr>
            <a:r>
              <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rPr>
              <a:t>Sales trends over time. </a:t>
            </a:r>
          </a:p>
          <a:p>
            <a:pPr marL="584200" marR="5080" indent="-571500" algn="just">
              <a:lnSpc>
                <a:spcPct val="106300"/>
              </a:lnSpc>
              <a:spcBef>
                <a:spcPts val="95"/>
              </a:spcBef>
              <a:buFont typeface="Wingdings" panose="05000000000000000000" pitchFamily="2" charset="2"/>
              <a:buChar char="ü"/>
            </a:pPr>
            <a:r>
              <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rPr>
              <a:t> Identify high-performing products and</a:t>
            </a:r>
          </a:p>
          <a:p>
            <a:pPr marL="12700" marR="5080" algn="just">
              <a:lnSpc>
                <a:spcPct val="106300"/>
              </a:lnSpc>
              <a:spcBef>
                <a:spcPts val="95"/>
              </a:spcBef>
            </a:pPr>
            <a:r>
              <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rPr>
              <a:t> sales channels.  </a:t>
            </a:r>
          </a:p>
          <a:p>
            <a:pPr marL="584200" marR="5080" indent="-571500" algn="just">
              <a:lnSpc>
                <a:spcPct val="106300"/>
              </a:lnSpc>
              <a:spcBef>
                <a:spcPts val="95"/>
              </a:spcBef>
              <a:buFont typeface="Wingdings" panose="05000000000000000000" pitchFamily="2" charset="2"/>
              <a:buChar char="ü"/>
            </a:pPr>
            <a:r>
              <a:rPr lang="en-GB" sz="3600" dirty="0">
                <a:latin typeface="Microsoft Sans Serif" panose="020B0604020202020204" pitchFamily="34" charset="0"/>
                <a:ea typeface="Microsoft Sans Serif" panose="020B0604020202020204" pitchFamily="34" charset="0"/>
                <a:cs typeface="Microsoft Sans Serif" panose="020B0604020202020204" pitchFamily="34" charset="0"/>
              </a:rPr>
              <a:t>Create a dynamic dashboard with key metrics</a:t>
            </a:r>
            <a:r>
              <a:rPr lang="en-GB" dirty="0">
                <a:latin typeface="Microsoft Sans Serif" panose="020B0604020202020204" pitchFamily="34" charset="0"/>
                <a:ea typeface="Microsoft Sans Serif" panose="020B0604020202020204" pitchFamily="34" charset="0"/>
                <a:cs typeface="Microsoft Sans Serif" panose="020B0604020202020204" pitchFamily="34" charset="0"/>
              </a:rPr>
              <a:t>. </a:t>
            </a:r>
            <a:endParaRPr spc="-1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18" name="Picture 17" descr="A person using a computer and a tablet&#10;&#10;AI-generated content may be incorrect.">
            <a:extLst>
              <a:ext uri="{FF2B5EF4-FFF2-40B4-BE49-F238E27FC236}">
                <a16:creationId xmlns:a16="http://schemas.microsoft.com/office/drawing/2014/main" id="{D0D5EB5F-5767-00A0-771F-4DE2EB487F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53640" y="3302909"/>
            <a:ext cx="6696555" cy="418534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103775372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anim calcmode="lin" valueType="num">
                                      <p:cBhvr additive="base">
                                        <p:cTn id="13"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 calcmode="lin" valueType="num">
                                      <p:cBhvr additive="base">
                                        <p:cTn id="19"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anim calcmode="lin" valueType="num">
                                      <p:cBhvr additive="base">
                                        <p:cTn id="31"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 calcmode="lin" valueType="num">
                                      <p:cBhvr additive="base">
                                        <p:cTn id="37" dur="500" fill="hold"/>
                                        <p:tgtEl>
                                          <p:spTgt spid="14">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randombar(horizontal)">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A24F-FECD-E004-4BA3-97EB1C1437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E0DDD65-ACA9-06AC-D3F6-D3BB35BA86ED}"/>
              </a:ext>
            </a:extLst>
          </p:cNvPr>
          <p:cNvSpPr/>
          <p:nvPr/>
        </p:nvSpPr>
        <p:spPr>
          <a:xfrm>
            <a:off x="-1"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dirty="0"/>
          </a:p>
        </p:txBody>
      </p:sp>
      <p:grpSp>
        <p:nvGrpSpPr>
          <p:cNvPr id="7" name="object 7">
            <a:extLst>
              <a:ext uri="{FF2B5EF4-FFF2-40B4-BE49-F238E27FC236}">
                <a16:creationId xmlns:a16="http://schemas.microsoft.com/office/drawing/2014/main" id="{8ABD357A-5244-CC50-F5FC-8BFBC32C9C6F}"/>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40B082F6-9E5B-19B1-D6DB-4B785B66032E}"/>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8C6BE95A-A453-F8DB-E920-F506DCF804F7}"/>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AA22D3CC-B4EC-65AC-3FA9-80CC79164D07}"/>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6AF58C9B-3ED5-43C6-AEB8-96F4A0B71655}"/>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D015E0F3-15B1-E237-479C-650FDE02BC2B}"/>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B0CA0707-A95A-D002-5084-84E797A173E1}"/>
              </a:ext>
            </a:extLst>
          </p:cNvPr>
          <p:cNvSpPr txBox="1">
            <a:spLocks noGrp="1"/>
          </p:cNvSpPr>
          <p:nvPr>
            <p:ph type="title"/>
          </p:nvPr>
        </p:nvSpPr>
        <p:spPr>
          <a:xfrm>
            <a:off x="296539" y="176892"/>
            <a:ext cx="11349088" cy="1077218"/>
          </a:xfrm>
          <a:prstGeom prst="rect">
            <a:avLst/>
          </a:prstGeom>
        </p:spPr>
        <p:txBody>
          <a:bodyPr vert="horz" wrap="square" lIns="0" tIns="12700" rIns="0" bIns="0" rtlCol="0">
            <a:spAutoFit/>
          </a:bodyPr>
          <a:lstStyle/>
          <a:p>
            <a:pPr marL="12700">
              <a:lnSpc>
                <a:spcPts val="8325"/>
              </a:lnSpc>
              <a:spcBef>
                <a:spcPts val="100"/>
              </a:spcBef>
            </a:pPr>
            <a:r>
              <a:rPr lang="en-GB" dirty="0"/>
              <a:t>Data Description</a:t>
            </a:r>
            <a:endParaRPr spc="-515" dirty="0"/>
          </a:p>
        </p:txBody>
      </p:sp>
      <p:sp>
        <p:nvSpPr>
          <p:cNvPr id="5" name="Text Placeholder 4">
            <a:extLst>
              <a:ext uri="{FF2B5EF4-FFF2-40B4-BE49-F238E27FC236}">
                <a16:creationId xmlns:a16="http://schemas.microsoft.com/office/drawing/2014/main" id="{8B7CFDFE-9AF5-6AA9-E954-9B4A63981211}"/>
              </a:ext>
            </a:extLst>
          </p:cNvPr>
          <p:cNvSpPr>
            <a:spLocks noGrp="1"/>
          </p:cNvSpPr>
          <p:nvPr>
            <p:ph type="subTitle" idx="4294967295"/>
          </p:nvPr>
        </p:nvSpPr>
        <p:spPr>
          <a:xfrm>
            <a:off x="609600" y="1469141"/>
            <a:ext cx="12801600" cy="4616648"/>
          </a:xfrm>
        </p:spPr>
        <p:txBody>
          <a:bodyPr/>
          <a:lstStyle/>
          <a:p>
            <a:r>
              <a:rPr lang="en-GB" sz="4000" dirty="0">
                <a:latin typeface="Arial Black" panose="020B0A04020102020204" pitchFamily="34" charset="0"/>
              </a:rPr>
              <a:t>DATASET OVERVIEW:</a:t>
            </a:r>
          </a:p>
          <a:p>
            <a:endParaRPr lang="en-GB" sz="2800" dirty="0"/>
          </a:p>
          <a:p>
            <a:r>
              <a:rPr lang="en-GB" sz="2800" dirty="0">
                <a:latin typeface="Arial Black" panose="020B0A04020102020204" pitchFamily="34" charset="0"/>
              </a:rPr>
              <a:t>The dataset contains about 9,996 rows with details of retail sales transactions. It includes columns like Order ID, Sale ID, Product Type, Order Date, Ship Mode, Sales Amount, Quantity, Discount, Profit, Customer Info, and Product Category. The data helps analyse sales trends, performance, and profitability.</a:t>
            </a:r>
          </a:p>
          <a:p>
            <a:endParaRPr lang="en-GB" sz="2800" dirty="0">
              <a:latin typeface="Arial Black" panose="020B0A04020102020204" pitchFamily="34" charset="0"/>
            </a:endParaRPr>
          </a:p>
          <a:p>
            <a:endParaRPr lang="en-GB" sz="3200" dirty="0">
              <a:latin typeface="Arial Black" panose="020B0A04020102020204" pitchFamily="34" charset="0"/>
            </a:endParaRPr>
          </a:p>
          <a:p>
            <a:r>
              <a:rPr lang="en-GB" sz="3200" dirty="0">
                <a:latin typeface="Arial Black" panose="020B0A04020102020204" pitchFamily="34" charset="0"/>
              </a:rPr>
              <a:t>        </a:t>
            </a:r>
            <a:endParaRPr lang="en-AS" sz="3200" dirty="0">
              <a:latin typeface="Arial Black" panose="020B0A04020102020204" pitchFamily="34" charset="0"/>
            </a:endParaRPr>
          </a:p>
        </p:txBody>
      </p:sp>
      <p:sp>
        <p:nvSpPr>
          <p:cNvPr id="15" name="TextBox 14">
            <a:extLst>
              <a:ext uri="{FF2B5EF4-FFF2-40B4-BE49-F238E27FC236}">
                <a16:creationId xmlns:a16="http://schemas.microsoft.com/office/drawing/2014/main" id="{7CA7262C-EBCC-5C26-844B-487221A827E7}"/>
              </a:ext>
            </a:extLst>
          </p:cNvPr>
          <p:cNvSpPr txBox="1"/>
          <p:nvPr/>
        </p:nvSpPr>
        <p:spPr>
          <a:xfrm>
            <a:off x="430332" y="4206570"/>
            <a:ext cx="12919653" cy="4524315"/>
          </a:xfrm>
          <a:prstGeom prst="rect">
            <a:avLst/>
          </a:prstGeom>
          <a:noFill/>
        </p:spPr>
        <p:txBody>
          <a:bodyPr wrap="square">
            <a:spAutoFit/>
          </a:bodyPr>
          <a:lstStyle/>
          <a:p>
            <a:endParaRPr lang="en-GB" sz="4000" dirty="0">
              <a:solidFill>
                <a:schemeClr val="bg1"/>
              </a:solidFill>
              <a:latin typeface="Arial Black" panose="020B0A04020102020204" pitchFamily="34" charset="0"/>
            </a:endParaRPr>
          </a:p>
          <a:p>
            <a:r>
              <a:rPr lang="en-GB" sz="4000" dirty="0">
                <a:solidFill>
                  <a:schemeClr val="bg1"/>
                </a:solidFill>
                <a:latin typeface="Arial Black" panose="020B0A04020102020204" pitchFamily="34" charset="0"/>
              </a:rPr>
              <a:t>Data Cleaning Process:</a:t>
            </a:r>
          </a:p>
          <a:p>
            <a:endParaRPr lang="en-GB" sz="4000" dirty="0">
              <a:solidFill>
                <a:schemeClr val="bg1"/>
              </a:solidFill>
              <a:latin typeface="Illuma Black" panose="00000A00000000000000" pitchFamily="2" charset="0"/>
            </a:endParaRPr>
          </a:p>
          <a:p>
            <a:r>
              <a:rPr lang="en-GB" sz="2800" dirty="0">
                <a:solidFill>
                  <a:schemeClr val="bg1"/>
                </a:solidFill>
                <a:latin typeface="Arial Black" panose="020B0A04020102020204" pitchFamily="34" charset="0"/>
              </a:rPr>
              <a:t>The data cleaning process included removing duplicate records, handling missing values, and correcting data types. Date fields were formatted properly, and negative values in sales or discounts were flagged and corrected. Data validation was used to ensure consistency, making the dataset accurate and ready for analysis and visualization</a:t>
            </a:r>
            <a:r>
              <a:rPr lang="en-GB" sz="2400" dirty="0">
                <a:solidFill>
                  <a:schemeClr val="bg1"/>
                </a:solidFill>
                <a:latin typeface="Illuma Black" panose="00000A00000000000000" pitchFamily="2" charset="0"/>
              </a:rPr>
              <a:t>.</a:t>
            </a:r>
            <a:endParaRPr lang="en-AS" sz="2400" dirty="0">
              <a:solidFill>
                <a:schemeClr val="bg1"/>
              </a:solidFill>
              <a:latin typeface="Illuma Black" panose="00000A00000000000000" pitchFamily="2" charset="0"/>
            </a:endParaRPr>
          </a:p>
        </p:txBody>
      </p:sp>
      <p:pic>
        <p:nvPicPr>
          <p:cNvPr id="17" name="Picture 16" descr="A person holding a tablet&#10;&#10;AI-generated content may be incorrect.">
            <a:extLst>
              <a:ext uri="{FF2B5EF4-FFF2-40B4-BE49-F238E27FC236}">
                <a16:creationId xmlns:a16="http://schemas.microsoft.com/office/drawing/2014/main" id="{E00CE7F3-525D-E0D0-D857-4FD3325168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87462" y="3695700"/>
            <a:ext cx="3842328" cy="35814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66552258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xEl>
                                              <p:pRg st="1" end="1"/>
                                            </p:txEl>
                                          </p:spTgt>
                                        </p:tgtEl>
                                        <p:attrNameLst>
                                          <p:attrName>style.visibility</p:attrName>
                                        </p:attrNameLst>
                                      </p:cBhvr>
                                      <p:to>
                                        <p:strVal val="visible"/>
                                      </p:to>
                                    </p:set>
                                    <p:anim calcmode="lin" valueType="num">
                                      <p:cBhvr additive="base">
                                        <p:cTn id="25" dur="500" fill="hold"/>
                                        <p:tgtEl>
                                          <p:spTgt spid="1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xEl>
                                              <p:pRg st="3" end="3"/>
                                            </p:txEl>
                                          </p:spTgt>
                                        </p:tgtEl>
                                        <p:attrNameLst>
                                          <p:attrName>style.visibility</p:attrName>
                                        </p:attrNameLst>
                                      </p:cBhvr>
                                      <p:to>
                                        <p:strVal val="visible"/>
                                      </p:to>
                                    </p:set>
                                    <p:anim calcmode="lin" valueType="num">
                                      <p:cBhvr additive="base">
                                        <p:cTn id="31"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1000" fill="hold"/>
                                        <p:tgtEl>
                                          <p:spTgt spid="17"/>
                                        </p:tgtEl>
                                        <p:attrNameLst>
                                          <p:attrName>ppt_w</p:attrName>
                                        </p:attrNameLst>
                                      </p:cBhvr>
                                      <p:tavLst>
                                        <p:tav tm="0">
                                          <p:val>
                                            <p:fltVal val="0"/>
                                          </p:val>
                                        </p:tav>
                                        <p:tav tm="100000">
                                          <p:val>
                                            <p:strVal val="#ppt_w"/>
                                          </p:val>
                                        </p:tav>
                                      </p:tavLst>
                                    </p:anim>
                                    <p:anim calcmode="lin" valueType="num">
                                      <p:cBhvr>
                                        <p:cTn id="38" dur="1000" fill="hold"/>
                                        <p:tgtEl>
                                          <p:spTgt spid="17"/>
                                        </p:tgtEl>
                                        <p:attrNameLst>
                                          <p:attrName>ppt_h</p:attrName>
                                        </p:attrNameLst>
                                      </p:cBhvr>
                                      <p:tavLst>
                                        <p:tav tm="0">
                                          <p:val>
                                            <p:fltVal val="0"/>
                                          </p:val>
                                        </p:tav>
                                        <p:tav tm="100000">
                                          <p:val>
                                            <p:strVal val="#ppt_h"/>
                                          </p:val>
                                        </p:tav>
                                      </p:tavLst>
                                    </p:anim>
                                    <p:anim calcmode="lin" valueType="num">
                                      <p:cBhvr>
                                        <p:cTn id="39" dur="1000" fill="hold"/>
                                        <p:tgtEl>
                                          <p:spTgt spid="17"/>
                                        </p:tgtEl>
                                        <p:attrNameLst>
                                          <p:attrName>style.rotation</p:attrName>
                                        </p:attrNameLst>
                                      </p:cBhvr>
                                      <p:tavLst>
                                        <p:tav tm="0">
                                          <p:val>
                                            <p:fltVal val="90"/>
                                          </p:val>
                                        </p:tav>
                                        <p:tav tm="100000">
                                          <p:val>
                                            <p:fltVal val="0"/>
                                          </p:val>
                                        </p:tav>
                                      </p:tavLst>
                                    </p:anim>
                                    <p:animEffect transition="in" filter="fade">
                                      <p:cBhvr>
                                        <p:cTn id="4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A854B-EBA5-E0F7-2B1C-393D5E07DE16}"/>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E9A5A6EE-4BB9-6ACA-495E-FFCEB91E3543}"/>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2FE7EA3D-8B34-907D-53A2-057B1026AC29}"/>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C849C8B2-C910-4E1C-3C6C-9239D2442E80}"/>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1E3833E2-2812-11BB-D862-FB9A481977BD}"/>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471621CD-340C-1B2D-9DBA-3AE33E7173D4}"/>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F0F57876-598B-A8B6-42A9-857507B61D39}"/>
                </a:ext>
              </a:extLst>
            </p:cNvPr>
            <p:cNvPicPr/>
            <p:nvPr/>
          </p:nvPicPr>
          <p:blipFill>
            <a:blip r:embed="rId5" cstate="print"/>
            <a:stretch>
              <a:fillRect/>
            </a:stretch>
          </p:blipFill>
          <p:spPr>
            <a:xfrm>
              <a:off x="12103836" y="390676"/>
              <a:ext cx="5725954" cy="1209972"/>
            </a:xfrm>
            <a:prstGeom prst="rect">
              <a:avLst/>
            </a:prstGeom>
          </p:spPr>
        </p:pic>
      </p:grpSp>
      <p:sp>
        <p:nvSpPr>
          <p:cNvPr id="18" name="Title 17">
            <a:extLst>
              <a:ext uri="{FF2B5EF4-FFF2-40B4-BE49-F238E27FC236}">
                <a16:creationId xmlns:a16="http://schemas.microsoft.com/office/drawing/2014/main" id="{91C719CD-0756-9366-2999-603E73DD4121}"/>
              </a:ext>
            </a:extLst>
          </p:cNvPr>
          <p:cNvSpPr>
            <a:spLocks noGrp="1"/>
          </p:cNvSpPr>
          <p:nvPr>
            <p:ph type="title"/>
          </p:nvPr>
        </p:nvSpPr>
        <p:spPr/>
        <p:txBody>
          <a:bodyPr/>
          <a:lstStyle/>
          <a:p>
            <a:endParaRPr lang="en-AS"/>
          </a:p>
        </p:txBody>
      </p:sp>
      <p:sp>
        <p:nvSpPr>
          <p:cNvPr id="20" name="Text Placeholder 19">
            <a:extLst>
              <a:ext uri="{FF2B5EF4-FFF2-40B4-BE49-F238E27FC236}">
                <a16:creationId xmlns:a16="http://schemas.microsoft.com/office/drawing/2014/main" id="{84D92F4A-74B6-F777-41E1-34929EECAFAD}"/>
              </a:ext>
            </a:extLst>
          </p:cNvPr>
          <p:cNvSpPr>
            <a:spLocks noGrp="1"/>
          </p:cNvSpPr>
          <p:nvPr>
            <p:ph type="body" idx="1"/>
          </p:nvPr>
        </p:nvSpPr>
        <p:spPr/>
        <p:txBody>
          <a:bodyPr/>
          <a:lstStyle/>
          <a:p>
            <a:endParaRPr lang="en-AS"/>
          </a:p>
        </p:txBody>
      </p:sp>
      <p:sp>
        <p:nvSpPr>
          <p:cNvPr id="29" name="!!Rectangle 28">
            <a:extLst>
              <a:ext uri="{FF2B5EF4-FFF2-40B4-BE49-F238E27FC236}">
                <a16:creationId xmlns:a16="http://schemas.microsoft.com/office/drawing/2014/main" id="{4913D038-075D-FD83-4410-E4835C90EC17}"/>
              </a:ext>
            </a:extLst>
          </p:cNvPr>
          <p:cNvSpPr/>
          <p:nvPr/>
        </p:nvSpPr>
        <p:spPr>
          <a:xfrm>
            <a:off x="40132" y="91084"/>
            <a:ext cx="18211769" cy="10195915"/>
          </a:xfrm>
          <a:prstGeom prst="rect">
            <a:avLst/>
          </a:prstGeom>
          <a:solidFill>
            <a:schemeClr val="tx2">
              <a:lumMod val="50000"/>
            </a:schemeClr>
          </a:solidFill>
          <a:ln>
            <a:noFill/>
          </a:ln>
          <a:effectLst>
            <a:outerShdw blurRad="317500" dist="1524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4">
            <a:extLst>
              <a:ext uri="{FF2B5EF4-FFF2-40B4-BE49-F238E27FC236}">
                <a16:creationId xmlns:a16="http://schemas.microsoft.com/office/drawing/2014/main" id="{E3944725-B1CD-1AA3-AD32-C1BCB6E4B423}"/>
              </a:ext>
            </a:extLst>
          </p:cNvPr>
          <p:cNvSpPr/>
          <p:nvPr/>
        </p:nvSpPr>
        <p:spPr>
          <a:xfrm>
            <a:off x="13776672" y="1567473"/>
            <a:ext cx="4552943" cy="8673984"/>
          </a:xfrm>
          <a:prstGeom prst="rect">
            <a:avLst/>
          </a:prstGeom>
          <a:gradFill>
            <a:gsLst>
              <a:gs pos="11000">
                <a:schemeClr val="tx2">
                  <a:lumMod val="50000"/>
                </a:schemeClr>
              </a:gs>
              <a:gs pos="100000">
                <a:srgbClr val="8A72D7"/>
              </a:gs>
            </a:gsLst>
            <a:lin ang="5400000" scaled="1"/>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3">
            <a:extLst>
              <a:ext uri="{FF2B5EF4-FFF2-40B4-BE49-F238E27FC236}">
                <a16:creationId xmlns:a16="http://schemas.microsoft.com/office/drawing/2014/main" id="{E0C2E80B-B8CB-F3C9-294E-0CC680E5DB10}"/>
              </a:ext>
            </a:extLst>
          </p:cNvPr>
          <p:cNvSpPr/>
          <p:nvPr/>
        </p:nvSpPr>
        <p:spPr>
          <a:xfrm flipH="1">
            <a:off x="9142666" y="1476495"/>
            <a:ext cx="4552943" cy="8773671"/>
          </a:xfrm>
          <a:prstGeom prst="rect">
            <a:avLst/>
          </a:prstGeom>
          <a:gradFill>
            <a:gsLst>
              <a:gs pos="11000">
                <a:schemeClr val="tx2">
                  <a:lumMod val="50000"/>
                </a:schemeClr>
              </a:gs>
              <a:gs pos="100000">
                <a:srgbClr val="D26CC8"/>
              </a:gs>
            </a:gsLst>
            <a:lin ang="5400000" scaled="1"/>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S" dirty="0"/>
              <a:t> </a:t>
            </a:r>
            <a:endParaRPr lang="en-US" dirty="0"/>
          </a:p>
        </p:txBody>
      </p:sp>
      <p:sp>
        <p:nvSpPr>
          <p:cNvPr id="24" name="!!2">
            <a:extLst>
              <a:ext uri="{FF2B5EF4-FFF2-40B4-BE49-F238E27FC236}">
                <a16:creationId xmlns:a16="http://schemas.microsoft.com/office/drawing/2014/main" id="{0C9E4A29-E83F-AE29-87DB-4C68827C55B7}"/>
              </a:ext>
            </a:extLst>
          </p:cNvPr>
          <p:cNvSpPr/>
          <p:nvPr/>
        </p:nvSpPr>
        <p:spPr>
          <a:xfrm>
            <a:off x="4649078" y="1621375"/>
            <a:ext cx="4552943" cy="8687689"/>
          </a:xfrm>
          <a:prstGeom prst="rect">
            <a:avLst/>
          </a:prstGeom>
          <a:gradFill>
            <a:gsLst>
              <a:gs pos="11000">
                <a:schemeClr val="tx2">
                  <a:lumMod val="50000"/>
                </a:schemeClr>
              </a:gs>
              <a:gs pos="100000">
                <a:srgbClr val="FE646E"/>
              </a:gs>
            </a:gsLst>
            <a:lin ang="5400000" scaled="1"/>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1">
            <a:extLst>
              <a:ext uri="{FF2B5EF4-FFF2-40B4-BE49-F238E27FC236}">
                <a16:creationId xmlns:a16="http://schemas.microsoft.com/office/drawing/2014/main" id="{A90F8E81-64CD-A401-0863-646E96F8BE21}"/>
              </a:ext>
            </a:extLst>
          </p:cNvPr>
          <p:cNvSpPr/>
          <p:nvPr/>
        </p:nvSpPr>
        <p:spPr>
          <a:xfrm flipH="1">
            <a:off x="-14577" y="1567473"/>
            <a:ext cx="4552943" cy="8687689"/>
          </a:xfrm>
          <a:prstGeom prst="rect">
            <a:avLst/>
          </a:prstGeom>
          <a:gradFill flip="none" rotWithShape="1">
            <a:gsLst>
              <a:gs pos="11000">
                <a:schemeClr val="tx2">
                  <a:lumMod val="50000"/>
                </a:schemeClr>
              </a:gs>
              <a:gs pos="100000">
                <a:srgbClr val="67FA9B"/>
              </a:gs>
            </a:gsLst>
            <a:lin ang="5400000" scaled="1"/>
            <a:tileRect/>
          </a:gra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S" dirty="0"/>
              <a:t> </a:t>
            </a:r>
            <a:endParaRPr lang="en-US" dirty="0"/>
          </a:p>
        </p:txBody>
      </p:sp>
      <p:sp>
        <p:nvSpPr>
          <p:cNvPr id="26" name="!!TextBox 12">
            <a:extLst>
              <a:ext uri="{FF2B5EF4-FFF2-40B4-BE49-F238E27FC236}">
                <a16:creationId xmlns:a16="http://schemas.microsoft.com/office/drawing/2014/main" id="{AC46F973-23E4-FC35-E645-B360AE9A234F}"/>
              </a:ext>
            </a:extLst>
          </p:cNvPr>
          <p:cNvSpPr txBox="1"/>
          <p:nvPr/>
        </p:nvSpPr>
        <p:spPr>
          <a:xfrm>
            <a:off x="1423741" y="301433"/>
            <a:ext cx="13881327" cy="1015663"/>
          </a:xfrm>
          <a:prstGeom prst="rect">
            <a:avLst/>
          </a:prstGeom>
          <a:noFill/>
        </p:spPr>
        <p:txBody>
          <a:bodyPr wrap="square" rtlCol="0">
            <a:spAutoFit/>
          </a:bodyPr>
          <a:lstStyle/>
          <a:p>
            <a:pPr algn="ctr"/>
            <a:r>
              <a:rPr lang="en-US" sz="6000" b="1" dirty="0">
                <a:solidFill>
                  <a:schemeClr val="bg1"/>
                </a:solidFill>
                <a:effectLst>
                  <a:outerShdw blurRad="355600" dist="101600" dir="5400000" algn="t" rotWithShape="0">
                    <a:prstClr val="black">
                      <a:alpha val="40000"/>
                    </a:prstClr>
                  </a:outerShdw>
                </a:effectLst>
                <a:latin typeface="Arial Rounded MT Bold" panose="020F0704030504030204" pitchFamily="34" charset="0"/>
              </a:rPr>
              <a:t>Calculation and Data Analysis </a:t>
            </a:r>
          </a:p>
        </p:txBody>
      </p:sp>
      <p:sp>
        <p:nvSpPr>
          <p:cNvPr id="27" name="!!TextBox 6">
            <a:extLst>
              <a:ext uri="{FF2B5EF4-FFF2-40B4-BE49-F238E27FC236}">
                <a16:creationId xmlns:a16="http://schemas.microsoft.com/office/drawing/2014/main" id="{0D8606DD-252F-0B62-CE50-9CF951EFD912}"/>
              </a:ext>
            </a:extLst>
          </p:cNvPr>
          <p:cNvSpPr txBox="1"/>
          <p:nvPr/>
        </p:nvSpPr>
        <p:spPr>
          <a:xfrm>
            <a:off x="92786" y="5988360"/>
            <a:ext cx="4257761" cy="1569660"/>
          </a:xfrm>
          <a:prstGeom prst="rect">
            <a:avLst/>
          </a:prstGeom>
          <a:noFill/>
        </p:spPr>
        <p:txBody>
          <a:bodyPr wrap="square" rtlCol="0">
            <a:spAutoFit/>
          </a:bodyPr>
          <a:lstStyle/>
          <a:p>
            <a:pPr algn="ctr"/>
            <a:r>
              <a:rPr lang="en-GB" sz="4800" dirty="0">
                <a:solidFill>
                  <a:schemeClr val="bg1"/>
                </a:solidFill>
                <a:latin typeface="Arial Black" panose="020B0A04020102020204" pitchFamily="34" charset="0"/>
              </a:rPr>
              <a:t>Total sales</a:t>
            </a:r>
          </a:p>
          <a:p>
            <a:pPr algn="ctr"/>
            <a:r>
              <a:rPr lang="en-GB" sz="4800" dirty="0">
                <a:solidFill>
                  <a:schemeClr val="bg1"/>
                </a:solidFill>
                <a:latin typeface="Arial Black" panose="020B0A04020102020204" pitchFamily="34" charset="0"/>
              </a:rPr>
              <a:t>$2.30M </a:t>
            </a:r>
            <a:endParaRPr lang="en-US" sz="4800" dirty="0">
              <a:solidFill>
                <a:schemeClr val="bg1"/>
              </a:solidFill>
              <a:latin typeface="Arial Black" panose="020B0A04020102020204" pitchFamily="34" charset="0"/>
            </a:endParaRPr>
          </a:p>
        </p:txBody>
      </p:sp>
      <p:sp>
        <p:nvSpPr>
          <p:cNvPr id="30" name="!!TextBox 13">
            <a:extLst>
              <a:ext uri="{FF2B5EF4-FFF2-40B4-BE49-F238E27FC236}">
                <a16:creationId xmlns:a16="http://schemas.microsoft.com/office/drawing/2014/main" id="{85716E4E-7780-E4D3-75BD-2D1576DFBDA5}"/>
              </a:ext>
            </a:extLst>
          </p:cNvPr>
          <p:cNvSpPr txBox="1"/>
          <p:nvPr/>
        </p:nvSpPr>
        <p:spPr>
          <a:xfrm>
            <a:off x="5117064" y="6149886"/>
            <a:ext cx="3620188" cy="2800767"/>
          </a:xfrm>
          <a:prstGeom prst="rect">
            <a:avLst/>
          </a:prstGeom>
          <a:noFill/>
        </p:spPr>
        <p:txBody>
          <a:bodyPr wrap="square" rtlCol="0">
            <a:spAutoFit/>
          </a:bodyPr>
          <a:lstStyle/>
          <a:p>
            <a:pPr algn="ctr"/>
            <a:r>
              <a:rPr lang="en-GB" sz="4400" dirty="0">
                <a:solidFill>
                  <a:schemeClr val="bg1"/>
                </a:solidFill>
                <a:latin typeface="Illuma Black" panose="00000A00000000000000" pitchFamily="2" charset="0"/>
              </a:rPr>
              <a:t>Average sales per order</a:t>
            </a:r>
          </a:p>
          <a:p>
            <a:pPr algn="ctr"/>
            <a:r>
              <a:rPr lang="en-AS" sz="4400" dirty="0">
                <a:solidFill>
                  <a:schemeClr val="bg1"/>
                </a:solidFill>
                <a:latin typeface="Arial Black" panose="020B0A04020102020204" pitchFamily="34" charset="0"/>
              </a:rPr>
              <a:t>$229.9 </a:t>
            </a:r>
            <a:r>
              <a:rPr lang="en-GB" sz="4400" dirty="0">
                <a:solidFill>
                  <a:schemeClr val="bg1"/>
                </a:solidFill>
                <a:latin typeface="Arial Black" panose="020B0A04020102020204" pitchFamily="34" charset="0"/>
              </a:rPr>
              <a:t> </a:t>
            </a:r>
            <a:endParaRPr lang="en-US" sz="4400" dirty="0">
              <a:solidFill>
                <a:schemeClr val="bg1"/>
              </a:solidFill>
              <a:latin typeface="Arial Black" panose="020B0A04020102020204" pitchFamily="34" charset="0"/>
            </a:endParaRPr>
          </a:p>
        </p:txBody>
      </p:sp>
      <p:sp>
        <p:nvSpPr>
          <p:cNvPr id="32" name="!!TextBox 18">
            <a:extLst>
              <a:ext uri="{FF2B5EF4-FFF2-40B4-BE49-F238E27FC236}">
                <a16:creationId xmlns:a16="http://schemas.microsoft.com/office/drawing/2014/main" id="{880EFA05-5375-ADA9-2D4C-884A8444835B}"/>
              </a:ext>
            </a:extLst>
          </p:cNvPr>
          <p:cNvSpPr txBox="1"/>
          <p:nvPr/>
        </p:nvSpPr>
        <p:spPr>
          <a:xfrm>
            <a:off x="9835357" y="6716331"/>
            <a:ext cx="3620188" cy="1692771"/>
          </a:xfrm>
          <a:prstGeom prst="rect">
            <a:avLst/>
          </a:prstGeom>
          <a:noFill/>
        </p:spPr>
        <p:txBody>
          <a:bodyPr wrap="square" rtlCol="0">
            <a:spAutoFit/>
          </a:bodyPr>
          <a:lstStyle/>
          <a:p>
            <a:pPr algn="ctr"/>
            <a:r>
              <a:rPr lang="en-GB" sz="3600" dirty="0">
                <a:solidFill>
                  <a:schemeClr val="bg1"/>
                </a:solidFill>
                <a:latin typeface="Illuma Black" panose="00000A00000000000000" pitchFamily="2" charset="0"/>
              </a:rPr>
              <a:t>Discount rates</a:t>
            </a:r>
          </a:p>
          <a:p>
            <a:pPr algn="ctr"/>
            <a:r>
              <a:rPr lang="en-AS" sz="4400" dirty="0">
                <a:solidFill>
                  <a:schemeClr val="bg1"/>
                </a:solidFill>
                <a:latin typeface="Arial Black" panose="020B0A04020102020204" pitchFamily="34" charset="0"/>
              </a:rPr>
              <a:t>$1561.09 </a:t>
            </a:r>
            <a:endParaRPr lang="en-US" sz="4400" dirty="0">
              <a:solidFill>
                <a:schemeClr val="bg1"/>
              </a:solidFill>
              <a:latin typeface="Arial Black" panose="020B0A04020102020204" pitchFamily="34" charset="0"/>
            </a:endParaRPr>
          </a:p>
          <a:p>
            <a:pPr algn="ctr"/>
            <a:endParaRPr lang="en-US" sz="2400" dirty="0"/>
          </a:p>
        </p:txBody>
      </p:sp>
      <p:sp>
        <p:nvSpPr>
          <p:cNvPr id="35" name="!!TextBox 34">
            <a:extLst>
              <a:ext uri="{FF2B5EF4-FFF2-40B4-BE49-F238E27FC236}">
                <a16:creationId xmlns:a16="http://schemas.microsoft.com/office/drawing/2014/main" id="{DABC6E42-7D4F-7270-7CB1-5D3A2CD017B3}"/>
              </a:ext>
            </a:extLst>
          </p:cNvPr>
          <p:cNvSpPr txBox="1"/>
          <p:nvPr/>
        </p:nvSpPr>
        <p:spPr>
          <a:xfrm>
            <a:off x="14027427" y="5765244"/>
            <a:ext cx="4161770" cy="2677656"/>
          </a:xfrm>
          <a:prstGeom prst="rect">
            <a:avLst/>
          </a:prstGeom>
          <a:noFill/>
        </p:spPr>
        <p:txBody>
          <a:bodyPr wrap="square" rtlCol="0">
            <a:spAutoFit/>
          </a:bodyPr>
          <a:lstStyle/>
          <a:p>
            <a:pPr algn="ctr"/>
            <a:r>
              <a:rPr lang="en-GB" sz="3600" dirty="0">
                <a:solidFill>
                  <a:schemeClr val="bg1"/>
                </a:solidFill>
                <a:latin typeface="Illuma Black" panose="00000A00000000000000" pitchFamily="2" charset="0"/>
              </a:rPr>
              <a:t>Sales by channel/product type </a:t>
            </a:r>
          </a:p>
          <a:p>
            <a:pPr algn="ctr"/>
            <a:endParaRPr lang="en-US" sz="3600" dirty="0">
              <a:solidFill>
                <a:schemeClr val="bg1"/>
              </a:solidFill>
              <a:latin typeface="Illuma Black" panose="00000A00000000000000" pitchFamily="2" charset="0"/>
            </a:endParaRPr>
          </a:p>
          <a:p>
            <a:pPr algn="ctr"/>
            <a:endParaRPr lang="en-US" sz="2400" dirty="0"/>
          </a:p>
        </p:txBody>
      </p:sp>
      <p:sp>
        <p:nvSpPr>
          <p:cNvPr id="37" name="!!TextBox 36">
            <a:extLst>
              <a:ext uri="{FF2B5EF4-FFF2-40B4-BE49-F238E27FC236}">
                <a16:creationId xmlns:a16="http://schemas.microsoft.com/office/drawing/2014/main" id="{99553885-555C-5718-2661-AE3C7D5B129C}"/>
              </a:ext>
            </a:extLst>
          </p:cNvPr>
          <p:cNvSpPr txBox="1"/>
          <p:nvPr/>
        </p:nvSpPr>
        <p:spPr>
          <a:xfrm>
            <a:off x="1083873" y="1691441"/>
            <a:ext cx="2818330" cy="1631216"/>
          </a:xfrm>
          <a:prstGeom prst="rect">
            <a:avLst/>
          </a:prstGeom>
          <a:noFill/>
        </p:spPr>
        <p:txBody>
          <a:bodyPr wrap="square" rtlCol="0">
            <a:spAutoFit/>
          </a:bodyPr>
          <a:lstStyle/>
          <a:p>
            <a:pPr algn="ctr"/>
            <a:r>
              <a:rPr lang="en-US" sz="10000" dirty="0">
                <a:solidFill>
                  <a:schemeClr val="bg1"/>
                </a:solidFill>
                <a:latin typeface="Lilita One" panose="02000000000000000000" pitchFamily="2" charset="0"/>
              </a:rPr>
              <a:t>1</a:t>
            </a:r>
          </a:p>
        </p:txBody>
      </p:sp>
      <p:sp>
        <p:nvSpPr>
          <p:cNvPr id="38" name="!!TextBox 37">
            <a:extLst>
              <a:ext uri="{FF2B5EF4-FFF2-40B4-BE49-F238E27FC236}">
                <a16:creationId xmlns:a16="http://schemas.microsoft.com/office/drawing/2014/main" id="{2B02DEEF-3AD6-9D17-0C54-8BC642E3AD7A}"/>
              </a:ext>
            </a:extLst>
          </p:cNvPr>
          <p:cNvSpPr txBox="1"/>
          <p:nvPr/>
        </p:nvSpPr>
        <p:spPr>
          <a:xfrm>
            <a:off x="5729389" y="1567473"/>
            <a:ext cx="2818330" cy="1631216"/>
          </a:xfrm>
          <a:prstGeom prst="rect">
            <a:avLst/>
          </a:prstGeom>
          <a:noFill/>
        </p:spPr>
        <p:txBody>
          <a:bodyPr wrap="square" rtlCol="0">
            <a:spAutoFit/>
          </a:bodyPr>
          <a:lstStyle/>
          <a:p>
            <a:pPr algn="ctr"/>
            <a:r>
              <a:rPr lang="en-US" sz="10000" dirty="0">
                <a:solidFill>
                  <a:schemeClr val="bg1"/>
                </a:solidFill>
                <a:latin typeface="Lilita One" panose="02000000000000000000" pitchFamily="2" charset="0"/>
              </a:rPr>
              <a:t>2</a:t>
            </a:r>
          </a:p>
        </p:txBody>
      </p:sp>
      <p:sp>
        <p:nvSpPr>
          <p:cNvPr id="39" name="!!TextBox 38">
            <a:extLst>
              <a:ext uri="{FF2B5EF4-FFF2-40B4-BE49-F238E27FC236}">
                <a16:creationId xmlns:a16="http://schemas.microsoft.com/office/drawing/2014/main" id="{95B67FF1-7798-F50B-3BDD-4D70A4B23AC5}"/>
              </a:ext>
            </a:extLst>
          </p:cNvPr>
          <p:cNvSpPr txBox="1"/>
          <p:nvPr/>
        </p:nvSpPr>
        <p:spPr>
          <a:xfrm>
            <a:off x="9956201" y="1693002"/>
            <a:ext cx="2818330" cy="1631216"/>
          </a:xfrm>
          <a:prstGeom prst="rect">
            <a:avLst/>
          </a:prstGeom>
          <a:noFill/>
        </p:spPr>
        <p:txBody>
          <a:bodyPr wrap="square" rtlCol="0">
            <a:spAutoFit/>
          </a:bodyPr>
          <a:lstStyle/>
          <a:p>
            <a:pPr algn="ctr"/>
            <a:r>
              <a:rPr lang="en-US" sz="10000" dirty="0">
                <a:solidFill>
                  <a:schemeClr val="bg1"/>
                </a:solidFill>
                <a:latin typeface="Lilita One" panose="02000000000000000000" pitchFamily="2" charset="0"/>
              </a:rPr>
              <a:t>3</a:t>
            </a:r>
          </a:p>
        </p:txBody>
      </p:sp>
      <p:sp>
        <p:nvSpPr>
          <p:cNvPr id="40" name="!!TextBox 39">
            <a:extLst>
              <a:ext uri="{FF2B5EF4-FFF2-40B4-BE49-F238E27FC236}">
                <a16:creationId xmlns:a16="http://schemas.microsoft.com/office/drawing/2014/main" id="{AC2CB791-8484-DB2F-B4D0-CE2C47B40203}"/>
              </a:ext>
            </a:extLst>
          </p:cNvPr>
          <p:cNvSpPr txBox="1"/>
          <p:nvPr/>
        </p:nvSpPr>
        <p:spPr>
          <a:xfrm>
            <a:off x="14624046" y="1798407"/>
            <a:ext cx="2818330" cy="1631216"/>
          </a:xfrm>
          <a:prstGeom prst="rect">
            <a:avLst/>
          </a:prstGeom>
          <a:noFill/>
        </p:spPr>
        <p:txBody>
          <a:bodyPr wrap="square" rtlCol="0">
            <a:spAutoFit/>
          </a:bodyPr>
          <a:lstStyle/>
          <a:p>
            <a:pPr algn="ctr"/>
            <a:r>
              <a:rPr lang="en-US" sz="10000" dirty="0">
                <a:solidFill>
                  <a:schemeClr val="bg1"/>
                </a:solidFill>
                <a:latin typeface="Lilita One" panose="02000000000000000000" pitchFamily="2" charset="0"/>
              </a:rPr>
              <a:t>4</a:t>
            </a:r>
          </a:p>
        </p:txBody>
      </p:sp>
      <p:pic>
        <p:nvPicPr>
          <p:cNvPr id="41" name="Graphic 40" descr="Hourglass Finished with solid fill">
            <a:extLst>
              <a:ext uri="{FF2B5EF4-FFF2-40B4-BE49-F238E27FC236}">
                <a16:creationId xmlns:a16="http://schemas.microsoft.com/office/drawing/2014/main" id="{2F5B65D0-DCF9-9496-38A9-9DF37CA9A5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52569" y="3674085"/>
            <a:ext cx="1780817" cy="1780817"/>
          </a:xfrm>
          <a:prstGeom prst="rect">
            <a:avLst/>
          </a:prstGeom>
        </p:spPr>
      </p:pic>
      <p:pic>
        <p:nvPicPr>
          <p:cNvPr id="43" name="Graphic 42" descr="Bar chart with solid fill">
            <a:extLst>
              <a:ext uri="{FF2B5EF4-FFF2-40B4-BE49-F238E27FC236}">
                <a16:creationId xmlns:a16="http://schemas.microsoft.com/office/drawing/2014/main" id="{00D5E914-D782-6839-31A4-73626E082E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4435" y="3741485"/>
            <a:ext cx="1808237" cy="1808237"/>
          </a:xfrm>
          <a:prstGeom prst="rect">
            <a:avLst/>
          </a:prstGeom>
        </p:spPr>
      </p:pic>
      <p:pic>
        <p:nvPicPr>
          <p:cNvPr id="45" name="Graphic 44" descr="Presentation with bar chart with solid fill">
            <a:extLst>
              <a:ext uri="{FF2B5EF4-FFF2-40B4-BE49-F238E27FC236}">
                <a16:creationId xmlns:a16="http://schemas.microsoft.com/office/drawing/2014/main" id="{4482CFC2-A9AE-028F-FF29-E78D1D6E51F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32940" y="3651582"/>
            <a:ext cx="1803320" cy="1803320"/>
          </a:xfrm>
          <a:prstGeom prst="rect">
            <a:avLst/>
          </a:prstGeom>
        </p:spPr>
      </p:pic>
      <p:pic>
        <p:nvPicPr>
          <p:cNvPr id="3" name="Graphic 2" descr="Building with solid fill">
            <a:extLst>
              <a:ext uri="{FF2B5EF4-FFF2-40B4-BE49-F238E27FC236}">
                <a16:creationId xmlns:a16="http://schemas.microsoft.com/office/drawing/2014/main" id="{13C613A6-3EB1-23AF-0765-1C35E519541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516554" y="4042397"/>
            <a:ext cx="1631215" cy="1631215"/>
          </a:xfrm>
          <a:prstGeom prst="rect">
            <a:avLst/>
          </a:prstGeom>
        </p:spPr>
      </p:pic>
      <p:graphicFrame>
        <p:nvGraphicFramePr>
          <p:cNvPr id="4" name="Table 3">
            <a:extLst>
              <a:ext uri="{FF2B5EF4-FFF2-40B4-BE49-F238E27FC236}">
                <a16:creationId xmlns:a16="http://schemas.microsoft.com/office/drawing/2014/main" id="{107A6C0E-522B-1E40-B552-CB3803F9BE89}"/>
              </a:ext>
            </a:extLst>
          </p:cNvPr>
          <p:cNvGraphicFramePr>
            <a:graphicFrameLocks noGrp="1"/>
          </p:cNvGraphicFramePr>
          <p:nvPr>
            <p:extLst>
              <p:ext uri="{D42A27DB-BD31-4B8C-83A1-F6EECF244321}">
                <p14:modId xmlns:p14="http://schemas.microsoft.com/office/powerpoint/2010/main" val="1153653150"/>
              </p:ext>
            </p:extLst>
          </p:nvPr>
        </p:nvGraphicFramePr>
        <p:xfrm>
          <a:off x="14027427" y="7685382"/>
          <a:ext cx="4161769" cy="2152824"/>
        </p:xfrm>
        <a:graphic>
          <a:graphicData uri="http://schemas.openxmlformats.org/drawingml/2006/table">
            <a:tbl>
              <a:tblPr>
                <a:tableStyleId>{5C22544A-7EE6-4342-B048-85BDC9FD1C3A}</a:tableStyleId>
              </a:tblPr>
              <a:tblGrid>
                <a:gridCol w="2569836">
                  <a:extLst>
                    <a:ext uri="{9D8B030D-6E8A-4147-A177-3AD203B41FA5}">
                      <a16:colId xmlns:a16="http://schemas.microsoft.com/office/drawing/2014/main" val="524362563"/>
                    </a:ext>
                  </a:extLst>
                </a:gridCol>
                <a:gridCol w="1591933">
                  <a:extLst>
                    <a:ext uri="{9D8B030D-6E8A-4147-A177-3AD203B41FA5}">
                      <a16:colId xmlns:a16="http://schemas.microsoft.com/office/drawing/2014/main" val="3698874696"/>
                    </a:ext>
                  </a:extLst>
                </a:gridCol>
              </a:tblGrid>
              <a:tr h="538206">
                <a:tc>
                  <a:txBody>
                    <a:bodyPr/>
                    <a:lstStyle/>
                    <a:p>
                      <a:pPr algn="l" fontAlgn="b"/>
                      <a:r>
                        <a:rPr lang="en-GB" sz="2400" u="none" strike="noStrike" dirty="0">
                          <a:solidFill>
                            <a:schemeClr val="bg1"/>
                          </a:solidFill>
                          <a:effectLst/>
                          <a:latin typeface="Illuma Black" panose="00000A00000000000000" pitchFamily="2" charset="0"/>
                        </a:rPr>
                        <a:t>Technology</a:t>
                      </a:r>
                      <a:endParaRPr lang="en-GB" sz="2400" b="0" i="0" u="none" strike="noStrike" dirty="0">
                        <a:solidFill>
                          <a:schemeClr val="bg1"/>
                        </a:solidFill>
                        <a:effectLst/>
                        <a:latin typeface="Illuma Black" panose="00000A00000000000000" pitchFamily="2" charset="0"/>
                      </a:endParaRPr>
                    </a:p>
                  </a:txBody>
                  <a:tcPr marL="9525" marR="9525" marT="9525" marB="0" anchor="b">
                    <a:solidFill>
                      <a:schemeClr val="tx2">
                        <a:lumMod val="50000"/>
                      </a:schemeClr>
                    </a:solidFill>
                  </a:tcPr>
                </a:tc>
                <a:tc>
                  <a:txBody>
                    <a:bodyPr/>
                    <a:lstStyle/>
                    <a:p>
                      <a:pPr algn="r" fontAlgn="b"/>
                      <a:r>
                        <a:rPr lang="en-AS" sz="2400" u="none" strike="noStrike" dirty="0">
                          <a:solidFill>
                            <a:srgbClr val="00B050"/>
                          </a:solidFill>
                          <a:effectLst/>
                          <a:latin typeface="Illuma Black" panose="00000A00000000000000" pitchFamily="2" charset="0"/>
                        </a:rPr>
                        <a:t>22638.48</a:t>
                      </a:r>
                      <a:endParaRPr lang="en-AS" sz="2400" b="1" i="0" u="none" strike="noStrike" dirty="0">
                        <a:solidFill>
                          <a:srgbClr val="00B050"/>
                        </a:solidFill>
                        <a:effectLst/>
                        <a:latin typeface="Illuma Black" panose="00000A00000000000000" pitchFamily="2" charset="0"/>
                      </a:endParaRPr>
                    </a:p>
                  </a:txBody>
                  <a:tcPr marL="9525" marR="9525" marT="9525" marB="0" anchor="b">
                    <a:solidFill>
                      <a:schemeClr val="tx2">
                        <a:lumMod val="50000"/>
                      </a:schemeClr>
                    </a:solidFill>
                  </a:tcPr>
                </a:tc>
                <a:extLst>
                  <a:ext uri="{0D108BD9-81ED-4DB2-BD59-A6C34878D82A}">
                    <a16:rowId xmlns:a16="http://schemas.microsoft.com/office/drawing/2014/main" val="1057764677"/>
                  </a:ext>
                </a:extLst>
              </a:tr>
              <a:tr h="538206">
                <a:tc>
                  <a:txBody>
                    <a:bodyPr/>
                    <a:lstStyle/>
                    <a:p>
                      <a:pPr algn="l" fontAlgn="b"/>
                      <a:r>
                        <a:rPr lang="en-GB" sz="2400" u="none" strike="noStrike" dirty="0">
                          <a:solidFill>
                            <a:schemeClr val="bg1"/>
                          </a:solidFill>
                          <a:effectLst/>
                          <a:latin typeface="Illuma Black" panose="00000A00000000000000" pitchFamily="2" charset="0"/>
                        </a:rPr>
                        <a:t>Furniture</a:t>
                      </a:r>
                      <a:endParaRPr lang="en-GB" sz="2400" b="0" i="0" u="none" strike="noStrike" dirty="0">
                        <a:solidFill>
                          <a:schemeClr val="bg1"/>
                        </a:solidFill>
                        <a:effectLst/>
                        <a:latin typeface="Illuma Black" panose="00000A00000000000000" pitchFamily="2" charset="0"/>
                      </a:endParaRPr>
                    </a:p>
                  </a:txBody>
                  <a:tcPr marL="9525" marR="9525" marT="9525" marB="0" anchor="b">
                    <a:solidFill>
                      <a:schemeClr val="tx2">
                        <a:lumMod val="50000"/>
                      </a:schemeClr>
                    </a:solidFill>
                  </a:tcPr>
                </a:tc>
                <a:tc>
                  <a:txBody>
                    <a:bodyPr/>
                    <a:lstStyle/>
                    <a:p>
                      <a:pPr algn="r" fontAlgn="b"/>
                      <a:r>
                        <a:rPr lang="en-AS" sz="2400" u="none" strike="noStrike" dirty="0">
                          <a:solidFill>
                            <a:schemeClr val="bg1"/>
                          </a:solidFill>
                          <a:effectLst/>
                          <a:latin typeface="Illuma Black" panose="00000A00000000000000" pitchFamily="2" charset="0"/>
                        </a:rPr>
                        <a:t>4416.174</a:t>
                      </a:r>
                      <a:endParaRPr lang="en-AS" sz="2400" b="0" i="0" u="none" strike="noStrike" dirty="0">
                        <a:solidFill>
                          <a:schemeClr val="bg1"/>
                        </a:solidFill>
                        <a:effectLst/>
                        <a:latin typeface="Illuma Black" panose="00000A00000000000000" pitchFamily="2" charset="0"/>
                      </a:endParaRPr>
                    </a:p>
                  </a:txBody>
                  <a:tcPr marL="9525" marR="9525" marT="9525" marB="0" anchor="b">
                    <a:solidFill>
                      <a:schemeClr val="tx2">
                        <a:lumMod val="50000"/>
                      </a:schemeClr>
                    </a:solidFill>
                  </a:tcPr>
                </a:tc>
                <a:extLst>
                  <a:ext uri="{0D108BD9-81ED-4DB2-BD59-A6C34878D82A}">
                    <a16:rowId xmlns:a16="http://schemas.microsoft.com/office/drawing/2014/main" val="898601512"/>
                  </a:ext>
                </a:extLst>
              </a:tr>
              <a:tr h="538206">
                <a:tc>
                  <a:txBody>
                    <a:bodyPr/>
                    <a:lstStyle/>
                    <a:p>
                      <a:pPr algn="l" fontAlgn="b"/>
                      <a:r>
                        <a:rPr lang="en-GB" sz="2400" u="none" strike="noStrike" dirty="0">
                          <a:solidFill>
                            <a:schemeClr val="bg1"/>
                          </a:solidFill>
                          <a:effectLst/>
                          <a:latin typeface="Illuma Black" panose="00000A00000000000000" pitchFamily="2" charset="0"/>
                        </a:rPr>
                        <a:t>Office Supplies</a:t>
                      </a:r>
                      <a:endParaRPr lang="en-GB" sz="2400" b="0" i="0" u="none" strike="noStrike" dirty="0">
                        <a:solidFill>
                          <a:schemeClr val="bg1"/>
                        </a:solidFill>
                        <a:effectLst/>
                        <a:latin typeface="Illuma Black" panose="00000A00000000000000" pitchFamily="2" charset="0"/>
                      </a:endParaRPr>
                    </a:p>
                  </a:txBody>
                  <a:tcPr marL="9525" marR="9525" marT="9525" marB="0" anchor="b">
                    <a:solidFill>
                      <a:schemeClr val="tx2">
                        <a:lumMod val="50000"/>
                      </a:schemeClr>
                    </a:solidFill>
                  </a:tcPr>
                </a:tc>
                <a:tc>
                  <a:txBody>
                    <a:bodyPr/>
                    <a:lstStyle/>
                    <a:p>
                      <a:pPr algn="r" fontAlgn="b"/>
                      <a:r>
                        <a:rPr lang="en-AS" sz="2400" u="none" strike="noStrike" dirty="0">
                          <a:solidFill>
                            <a:srgbClr val="FF0000"/>
                          </a:solidFill>
                          <a:effectLst/>
                          <a:latin typeface="Illuma Black" panose="00000A00000000000000" pitchFamily="2" charset="0"/>
                        </a:rPr>
                        <a:t>9892.74</a:t>
                      </a:r>
                      <a:endParaRPr lang="en-AS" sz="2400" b="0" i="0" u="none" strike="noStrike" dirty="0">
                        <a:solidFill>
                          <a:srgbClr val="FF0000"/>
                        </a:solidFill>
                        <a:effectLst/>
                        <a:latin typeface="Illuma Black" panose="00000A00000000000000" pitchFamily="2" charset="0"/>
                      </a:endParaRPr>
                    </a:p>
                  </a:txBody>
                  <a:tcPr marL="9525" marR="9525" marT="9525" marB="0" anchor="b">
                    <a:solidFill>
                      <a:schemeClr val="tx2">
                        <a:lumMod val="50000"/>
                      </a:schemeClr>
                    </a:solidFill>
                  </a:tcPr>
                </a:tc>
                <a:extLst>
                  <a:ext uri="{0D108BD9-81ED-4DB2-BD59-A6C34878D82A}">
                    <a16:rowId xmlns:a16="http://schemas.microsoft.com/office/drawing/2014/main" val="343820152"/>
                  </a:ext>
                </a:extLst>
              </a:tr>
              <a:tr h="538206">
                <a:tc>
                  <a:txBody>
                    <a:bodyPr/>
                    <a:lstStyle/>
                    <a:p>
                      <a:pPr algn="l" fontAlgn="b"/>
                      <a:r>
                        <a:rPr lang="en-GB" sz="2400" u="none" strike="noStrike">
                          <a:solidFill>
                            <a:schemeClr val="bg1"/>
                          </a:solidFill>
                          <a:effectLst/>
                          <a:latin typeface="Illuma Black" panose="00000A00000000000000" pitchFamily="2" charset="0"/>
                        </a:rPr>
                        <a:t>Grand Total</a:t>
                      </a:r>
                      <a:endParaRPr lang="en-GB" sz="2400" b="1" i="0" u="none" strike="noStrike">
                        <a:solidFill>
                          <a:schemeClr val="bg1"/>
                        </a:solidFill>
                        <a:effectLst/>
                        <a:latin typeface="Illuma Black" panose="00000A00000000000000" pitchFamily="2" charset="0"/>
                      </a:endParaRPr>
                    </a:p>
                  </a:txBody>
                  <a:tcPr marL="9525" marR="9525" marT="9525" marB="0" anchor="b">
                    <a:solidFill>
                      <a:schemeClr val="tx2">
                        <a:lumMod val="50000"/>
                      </a:schemeClr>
                    </a:solidFill>
                  </a:tcPr>
                </a:tc>
                <a:tc>
                  <a:txBody>
                    <a:bodyPr/>
                    <a:lstStyle/>
                    <a:p>
                      <a:pPr algn="r" fontAlgn="b"/>
                      <a:r>
                        <a:rPr lang="en-AS" sz="2400" u="none" strike="noStrike" dirty="0">
                          <a:solidFill>
                            <a:schemeClr val="bg1"/>
                          </a:solidFill>
                          <a:effectLst/>
                          <a:latin typeface="Illuma Black" panose="00000A00000000000000" pitchFamily="2" charset="0"/>
                        </a:rPr>
                        <a:t>22638.48</a:t>
                      </a:r>
                      <a:endParaRPr lang="en-AS" sz="2400" b="1" i="0" u="none" strike="noStrike" dirty="0">
                        <a:solidFill>
                          <a:schemeClr val="bg1"/>
                        </a:solidFill>
                        <a:effectLst/>
                        <a:latin typeface="Illuma Black" panose="00000A00000000000000" pitchFamily="2" charset="0"/>
                      </a:endParaRPr>
                    </a:p>
                  </a:txBody>
                  <a:tcPr marL="9525" marR="9525" marT="9525" marB="0" anchor="b">
                    <a:solidFill>
                      <a:schemeClr val="tx2">
                        <a:lumMod val="50000"/>
                      </a:schemeClr>
                    </a:solidFill>
                  </a:tcPr>
                </a:tc>
                <a:extLst>
                  <a:ext uri="{0D108BD9-81ED-4DB2-BD59-A6C34878D82A}">
                    <a16:rowId xmlns:a16="http://schemas.microsoft.com/office/drawing/2014/main" val="1818795375"/>
                  </a:ext>
                </a:extLst>
              </a:tr>
            </a:tbl>
          </a:graphicData>
        </a:graphic>
      </p:graphicFrame>
    </p:spTree>
    <p:extLst>
      <p:ext uri="{BB962C8B-B14F-4D97-AF65-F5344CB8AC3E}">
        <p14:creationId xmlns:p14="http://schemas.microsoft.com/office/powerpoint/2010/main" val="34310355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fill="hold"/>
                                        <p:tgtEl>
                                          <p:spTgt spid="41"/>
                                        </p:tgtEl>
                                        <p:attrNameLst>
                                          <p:attrName>ppt_x</p:attrName>
                                        </p:attrNameLst>
                                      </p:cBhvr>
                                      <p:tavLst>
                                        <p:tav tm="0">
                                          <p:val>
                                            <p:strVal val="#ppt_x"/>
                                          </p:val>
                                        </p:tav>
                                        <p:tav tm="100000">
                                          <p:val>
                                            <p:strVal val="#ppt_x"/>
                                          </p:val>
                                        </p:tav>
                                      </p:tavLst>
                                    </p:anim>
                                    <p:anim calcmode="lin" valueType="num">
                                      <p:cBhvr additive="base">
                                        <p:cTn id="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fill="hold"/>
                                        <p:tgtEl>
                                          <p:spTgt spid="27"/>
                                        </p:tgtEl>
                                        <p:attrNameLst>
                                          <p:attrName>ppt_x</p:attrName>
                                        </p:attrNameLst>
                                      </p:cBhvr>
                                      <p:tavLst>
                                        <p:tav tm="0">
                                          <p:val>
                                            <p:strVal val="#ppt_x"/>
                                          </p:val>
                                        </p:tav>
                                        <p:tav tm="100000">
                                          <p:val>
                                            <p:strVal val="#ppt_x"/>
                                          </p:val>
                                        </p:tav>
                                      </p:tavLst>
                                    </p:anim>
                                    <p:anim calcmode="lin" valueType="num">
                                      <p:cBhvr additive="base">
                                        <p:cTn id="4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additive="base">
                                        <p:cTn id="49" dur="500" fill="hold"/>
                                        <p:tgtEl>
                                          <p:spTgt spid="38"/>
                                        </p:tgtEl>
                                        <p:attrNameLst>
                                          <p:attrName>ppt_x</p:attrName>
                                        </p:attrNameLst>
                                      </p:cBhvr>
                                      <p:tavLst>
                                        <p:tav tm="0">
                                          <p:val>
                                            <p:strVal val="#ppt_x"/>
                                          </p:val>
                                        </p:tav>
                                        <p:tav tm="100000">
                                          <p:val>
                                            <p:strVal val="#ppt_x"/>
                                          </p:val>
                                        </p:tav>
                                      </p:tavLst>
                                    </p:anim>
                                    <p:anim calcmode="lin" valueType="num">
                                      <p:cBhvr additive="base">
                                        <p:cTn id="5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3"/>
                                        </p:tgtEl>
                                        <p:attrNameLst>
                                          <p:attrName>style.visibility</p:attrName>
                                        </p:attrNameLst>
                                      </p:cBhvr>
                                      <p:to>
                                        <p:strVal val="visible"/>
                                      </p:to>
                                    </p:set>
                                    <p:anim calcmode="lin" valueType="num">
                                      <p:cBhvr additive="base">
                                        <p:cTn id="55" dur="500" fill="hold"/>
                                        <p:tgtEl>
                                          <p:spTgt spid="43"/>
                                        </p:tgtEl>
                                        <p:attrNameLst>
                                          <p:attrName>ppt_x</p:attrName>
                                        </p:attrNameLst>
                                      </p:cBhvr>
                                      <p:tavLst>
                                        <p:tav tm="0">
                                          <p:val>
                                            <p:strVal val="#ppt_x"/>
                                          </p:val>
                                        </p:tav>
                                        <p:tav tm="100000">
                                          <p:val>
                                            <p:strVal val="#ppt_x"/>
                                          </p:val>
                                        </p:tav>
                                      </p:tavLst>
                                    </p:anim>
                                    <p:anim calcmode="lin" valueType="num">
                                      <p:cBhvr additive="base">
                                        <p:cTn id="5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additive="base">
                                        <p:cTn id="67" dur="500" fill="hold"/>
                                        <p:tgtEl>
                                          <p:spTgt spid="39"/>
                                        </p:tgtEl>
                                        <p:attrNameLst>
                                          <p:attrName>ppt_x</p:attrName>
                                        </p:attrNameLst>
                                      </p:cBhvr>
                                      <p:tavLst>
                                        <p:tav tm="0">
                                          <p:val>
                                            <p:strVal val="#ppt_x"/>
                                          </p:val>
                                        </p:tav>
                                        <p:tav tm="100000">
                                          <p:val>
                                            <p:strVal val="#ppt_x"/>
                                          </p:val>
                                        </p:tav>
                                      </p:tavLst>
                                    </p:anim>
                                    <p:anim calcmode="lin" valueType="num">
                                      <p:cBhvr additive="base">
                                        <p:cTn id="6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anim calcmode="lin" valueType="num">
                                      <p:cBhvr additive="base">
                                        <p:cTn id="79" dur="500" fill="hold"/>
                                        <p:tgtEl>
                                          <p:spTgt spid="32"/>
                                        </p:tgtEl>
                                        <p:attrNameLst>
                                          <p:attrName>ppt_x</p:attrName>
                                        </p:attrNameLst>
                                      </p:cBhvr>
                                      <p:tavLst>
                                        <p:tav tm="0">
                                          <p:val>
                                            <p:strVal val="#ppt_x"/>
                                          </p:val>
                                        </p:tav>
                                        <p:tav tm="100000">
                                          <p:val>
                                            <p:strVal val="#ppt_x"/>
                                          </p:val>
                                        </p:tav>
                                      </p:tavLst>
                                    </p:anim>
                                    <p:anim calcmode="lin" valueType="num">
                                      <p:cBhvr additive="base">
                                        <p:cTn id="8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0"/>
                                        </p:tgtEl>
                                        <p:attrNameLst>
                                          <p:attrName>style.visibility</p:attrName>
                                        </p:attrNameLst>
                                      </p:cBhvr>
                                      <p:to>
                                        <p:strVal val="visible"/>
                                      </p:to>
                                    </p:set>
                                    <p:anim calcmode="lin" valueType="num">
                                      <p:cBhvr additive="base">
                                        <p:cTn id="85" dur="500" fill="hold"/>
                                        <p:tgtEl>
                                          <p:spTgt spid="40"/>
                                        </p:tgtEl>
                                        <p:attrNameLst>
                                          <p:attrName>ppt_x</p:attrName>
                                        </p:attrNameLst>
                                      </p:cBhvr>
                                      <p:tavLst>
                                        <p:tav tm="0">
                                          <p:val>
                                            <p:strVal val="#ppt_x"/>
                                          </p:val>
                                        </p:tav>
                                        <p:tav tm="100000">
                                          <p:val>
                                            <p:strVal val="#ppt_x"/>
                                          </p:val>
                                        </p:tav>
                                      </p:tavLst>
                                    </p:anim>
                                    <p:anim calcmode="lin" valueType="num">
                                      <p:cBhvr additive="base">
                                        <p:cTn id="86"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gtEl>
                                        <p:attrNameLst>
                                          <p:attrName>style.visibility</p:attrName>
                                        </p:attrNameLst>
                                      </p:cBhvr>
                                      <p:to>
                                        <p:strVal val="visible"/>
                                      </p:to>
                                    </p:set>
                                    <p:anim calcmode="lin" valueType="num">
                                      <p:cBhvr additive="base">
                                        <p:cTn id="91" dur="500" fill="hold"/>
                                        <p:tgtEl>
                                          <p:spTgt spid="3"/>
                                        </p:tgtEl>
                                        <p:attrNameLst>
                                          <p:attrName>ppt_x</p:attrName>
                                        </p:attrNameLst>
                                      </p:cBhvr>
                                      <p:tavLst>
                                        <p:tav tm="0">
                                          <p:val>
                                            <p:strVal val="#ppt_x"/>
                                          </p:val>
                                        </p:tav>
                                        <p:tav tm="100000">
                                          <p:val>
                                            <p:strVal val="#ppt_x"/>
                                          </p:val>
                                        </p:tav>
                                      </p:tavLst>
                                    </p:anim>
                                    <p:anim calcmode="lin" valueType="num">
                                      <p:cBhvr additive="base">
                                        <p:cTn id="9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 calcmode="lin" valueType="num">
                                      <p:cBhvr additive="base">
                                        <p:cTn id="97" dur="500" fill="hold"/>
                                        <p:tgtEl>
                                          <p:spTgt spid="35"/>
                                        </p:tgtEl>
                                        <p:attrNameLst>
                                          <p:attrName>ppt_x</p:attrName>
                                        </p:attrNameLst>
                                      </p:cBhvr>
                                      <p:tavLst>
                                        <p:tav tm="0">
                                          <p:val>
                                            <p:strVal val="#ppt_x"/>
                                          </p:val>
                                        </p:tav>
                                        <p:tav tm="100000">
                                          <p:val>
                                            <p:strVal val="#ppt_x"/>
                                          </p:val>
                                        </p:tav>
                                      </p:tavLst>
                                    </p:anim>
                                    <p:anim calcmode="lin" valueType="num">
                                      <p:cBhvr additive="base">
                                        <p:cTn id="9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gtEl>
                                        <p:attrNameLst>
                                          <p:attrName>style.visibility</p:attrName>
                                        </p:attrNameLst>
                                      </p:cBhvr>
                                      <p:to>
                                        <p:strVal val="visible"/>
                                      </p:to>
                                    </p:set>
                                    <p:anim calcmode="lin" valueType="num">
                                      <p:cBhvr additive="base">
                                        <p:cTn id="103" dur="500" fill="hold"/>
                                        <p:tgtEl>
                                          <p:spTgt spid="4"/>
                                        </p:tgtEl>
                                        <p:attrNameLst>
                                          <p:attrName>ppt_x</p:attrName>
                                        </p:attrNameLst>
                                      </p:cBhvr>
                                      <p:tavLst>
                                        <p:tav tm="0">
                                          <p:val>
                                            <p:strVal val="#ppt_x"/>
                                          </p:val>
                                        </p:tav>
                                        <p:tav tm="100000">
                                          <p:val>
                                            <p:strVal val="#ppt_x"/>
                                          </p:val>
                                        </p:tav>
                                      </p:tavLst>
                                    </p:anim>
                                    <p:anim calcmode="lin" valueType="num">
                                      <p:cBhvr additive="base">
                                        <p:cTn id="10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500" fill="hold"/>
                                        <p:tgtEl>
                                          <p:spTgt spid="26"/>
                                        </p:tgtEl>
                                        <p:attrNameLst>
                                          <p:attrName>ppt_x</p:attrName>
                                        </p:attrNameLst>
                                      </p:cBhvr>
                                      <p:tavLst>
                                        <p:tav tm="0">
                                          <p:val>
                                            <p:strVal val="#ppt_x"/>
                                          </p:val>
                                        </p:tav>
                                        <p:tav tm="100000">
                                          <p:val>
                                            <p:strVal val="#ppt_x"/>
                                          </p:val>
                                        </p:tav>
                                      </p:tavLst>
                                    </p:anim>
                                    <p:anim calcmode="lin" valueType="num">
                                      <p:cBhvr additive="base">
                                        <p:cTn id="11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24" grpId="0" animBg="1"/>
      <p:bldP spid="25" grpId="0" animBg="1"/>
      <p:bldP spid="26" grpId="0"/>
      <p:bldP spid="27" grpId="0"/>
      <p:bldP spid="30" grpId="0"/>
      <p:bldP spid="32" grpId="0"/>
      <p:bldP spid="35" grpId="0"/>
      <p:bldP spid="37" grpId="0"/>
      <p:bldP spid="38" grpId="0"/>
      <p:bldP spid="39" grpId="0"/>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0B396-9751-A1CE-C5A8-41C667F8F709}"/>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D9144409-F1EF-FE03-58F5-73D7E5DD60B4}"/>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4D5826B9-3DF9-997E-6A10-52053F0E86BE}"/>
                </a:ext>
              </a:extLst>
            </p:cNvPr>
            <p:cNvPicPr/>
            <p:nvPr/>
          </p:nvPicPr>
          <p:blipFill>
            <a:blip r:embed="rId3"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6CA94F91-5BFA-8A54-220A-27502D250391}"/>
                </a:ext>
              </a:extLst>
            </p:cNvPr>
            <p:cNvPicPr/>
            <p:nvPr/>
          </p:nvPicPr>
          <p:blipFill>
            <a:blip r:embed="rId4"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E677D09B-6085-2314-5479-6C12A7215DF7}"/>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5A6E97BF-4783-CD35-45FC-3BCE3AEE999A}"/>
                </a:ext>
              </a:extLst>
            </p:cNvPr>
            <p:cNvPicPr/>
            <p:nvPr/>
          </p:nvPicPr>
          <p:blipFill>
            <a:blip r:embed="rId5"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9EA01920-A2D6-8352-F417-B056109AC45D}"/>
                </a:ext>
              </a:extLst>
            </p:cNvPr>
            <p:cNvPicPr/>
            <p:nvPr/>
          </p:nvPicPr>
          <p:blipFill>
            <a:blip r:embed="rId6" cstate="print"/>
            <a:stretch>
              <a:fillRect/>
            </a:stretch>
          </p:blipFill>
          <p:spPr>
            <a:xfrm>
              <a:off x="12103836" y="390676"/>
              <a:ext cx="5725954" cy="1209972"/>
            </a:xfrm>
            <a:prstGeom prst="rect">
              <a:avLst/>
            </a:prstGeom>
          </p:spPr>
        </p:pic>
      </p:grpSp>
      <p:pic>
        <p:nvPicPr>
          <p:cNvPr id="25" name="Picture 24">
            <a:extLst>
              <a:ext uri="{FF2B5EF4-FFF2-40B4-BE49-F238E27FC236}">
                <a16:creationId xmlns:a16="http://schemas.microsoft.com/office/drawing/2014/main" id="{7163520B-37CB-9CB0-D7C8-AA825BAAF45E}"/>
              </a:ext>
            </a:extLst>
          </p:cNvPr>
          <p:cNvPicPr>
            <a:picLocks noChangeAspect="1"/>
          </p:cNvPicPr>
          <p:nvPr/>
        </p:nvPicPr>
        <p:blipFill>
          <a:blip r:embed="rId7"/>
          <a:stretch>
            <a:fillRect/>
          </a:stretch>
        </p:blipFill>
        <p:spPr>
          <a:xfrm>
            <a:off x="0" y="1334702"/>
            <a:ext cx="18287999" cy="1209972"/>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89F21243-42AA-150E-0C59-7635D15DC3A6}"/>
              </a:ext>
            </a:extLst>
          </p:cNvPr>
          <p:cNvPicPr>
            <a:picLocks noChangeAspect="1"/>
          </p:cNvPicPr>
          <p:nvPr/>
        </p:nvPicPr>
        <p:blipFill>
          <a:blip r:embed="rId8">
            <a:extLst>
              <a:ext uri="{28A0092B-C50C-407E-A947-70E740481C1C}">
                <a14:useLocalDpi xmlns:a14="http://schemas.microsoft.com/office/drawing/2010/main" val="0"/>
              </a:ext>
            </a:extLst>
          </a:blip>
          <a:srcRect t="59375" r="52343" b="36459"/>
          <a:stretch/>
        </p:blipFill>
        <p:spPr>
          <a:xfrm>
            <a:off x="26020" y="2602742"/>
            <a:ext cx="18261979" cy="1137327"/>
          </a:xfrm>
          <a:prstGeom prst="rect">
            <a:avLst/>
          </a:prstGeom>
        </p:spPr>
      </p:pic>
      <p:pic>
        <p:nvPicPr>
          <p:cNvPr id="29" name="Picture 28" descr="A screenshot of a computer&#10;&#10;AI-generated content may be incorrect.">
            <a:extLst>
              <a:ext uri="{FF2B5EF4-FFF2-40B4-BE49-F238E27FC236}">
                <a16:creationId xmlns:a16="http://schemas.microsoft.com/office/drawing/2014/main" id="{1F956DAC-2AA7-2D92-4F0E-97E95376901D}"/>
              </a:ext>
            </a:extLst>
          </p:cNvPr>
          <p:cNvPicPr>
            <a:picLocks noChangeAspect="1"/>
          </p:cNvPicPr>
          <p:nvPr/>
        </p:nvPicPr>
        <p:blipFill>
          <a:blip r:embed="rId9">
            <a:extLst>
              <a:ext uri="{28A0092B-C50C-407E-A947-70E740481C1C}">
                <a14:useLocalDpi xmlns:a14="http://schemas.microsoft.com/office/drawing/2010/main" val="0"/>
              </a:ext>
            </a:extLst>
          </a:blip>
          <a:srcRect t="62620" r="48243" b="31648"/>
          <a:stretch/>
        </p:blipFill>
        <p:spPr>
          <a:xfrm>
            <a:off x="26020" y="3824137"/>
            <a:ext cx="18261979" cy="1239093"/>
          </a:xfrm>
          <a:prstGeom prst="rect">
            <a:avLst/>
          </a:prstGeom>
        </p:spPr>
      </p:pic>
      <p:pic>
        <p:nvPicPr>
          <p:cNvPr id="33" name="Picture 32" descr="A screenshot of a computer&#10;&#10;AI-generated content may be incorrect.">
            <a:extLst>
              <a:ext uri="{FF2B5EF4-FFF2-40B4-BE49-F238E27FC236}">
                <a16:creationId xmlns:a16="http://schemas.microsoft.com/office/drawing/2014/main" id="{261AF35D-FD59-4529-ABE8-D7F1F02664DB}"/>
              </a:ext>
            </a:extLst>
          </p:cNvPr>
          <p:cNvPicPr>
            <a:picLocks noChangeAspect="1"/>
          </p:cNvPicPr>
          <p:nvPr/>
        </p:nvPicPr>
        <p:blipFill>
          <a:blip r:embed="rId10">
            <a:extLst>
              <a:ext uri="{28A0092B-C50C-407E-A947-70E740481C1C}">
                <a14:useLocalDpi xmlns:a14="http://schemas.microsoft.com/office/drawing/2010/main" val="0"/>
              </a:ext>
            </a:extLst>
          </a:blip>
          <a:srcRect t="67017" r="47657" b="28125"/>
          <a:stretch/>
        </p:blipFill>
        <p:spPr>
          <a:xfrm>
            <a:off x="81776" y="5115308"/>
            <a:ext cx="18206223" cy="1114607"/>
          </a:xfrm>
          <a:prstGeom prst="rect">
            <a:avLst/>
          </a:prstGeom>
        </p:spPr>
      </p:pic>
      <p:pic>
        <p:nvPicPr>
          <p:cNvPr id="35" name="Picture 34">
            <a:extLst>
              <a:ext uri="{FF2B5EF4-FFF2-40B4-BE49-F238E27FC236}">
                <a16:creationId xmlns:a16="http://schemas.microsoft.com/office/drawing/2014/main" id="{12C86B7C-EA90-2440-C948-9E231DDB4AB1}"/>
              </a:ext>
            </a:extLst>
          </p:cNvPr>
          <p:cNvPicPr>
            <a:picLocks noChangeAspect="1"/>
          </p:cNvPicPr>
          <p:nvPr/>
        </p:nvPicPr>
        <p:blipFill>
          <a:blip r:embed="rId11">
            <a:extLst>
              <a:ext uri="{28A0092B-C50C-407E-A947-70E740481C1C}">
                <a14:useLocalDpi xmlns:a14="http://schemas.microsoft.com/office/drawing/2010/main" val="0"/>
              </a:ext>
            </a:extLst>
          </a:blip>
          <a:srcRect t="71766" r="47657" b="17708"/>
          <a:stretch/>
        </p:blipFill>
        <p:spPr>
          <a:xfrm>
            <a:off x="-4011" y="6281993"/>
            <a:ext cx="18292011" cy="1843170"/>
          </a:xfrm>
          <a:prstGeom prst="rect">
            <a:avLst/>
          </a:prstGeom>
        </p:spPr>
      </p:pic>
    </p:spTree>
    <p:extLst>
      <p:ext uri="{BB962C8B-B14F-4D97-AF65-F5344CB8AC3E}">
        <p14:creationId xmlns:p14="http://schemas.microsoft.com/office/powerpoint/2010/main" val="208337892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arn(inVertic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down)">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circle(in)">
                                      <p:cBhvr>
                                        <p:cTn id="22" dur="20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randombar(horizontal)">
                                      <p:cBhvr>
                                        <p:cTn id="2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3713-FD3B-C446-4AD4-387FE2DFD0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99C0AB-20ED-D110-2E12-A084383802B2}"/>
              </a:ext>
            </a:extLst>
          </p:cNvPr>
          <p:cNvSpPr/>
          <p:nvPr/>
        </p:nvSpPr>
        <p:spPr>
          <a:xfrm>
            <a:off x="28073" y="72189"/>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lang="en-GB" dirty="0">
              <a:solidFill>
                <a:schemeClr val="bg1"/>
              </a:solidFill>
            </a:endParaRPr>
          </a:p>
        </p:txBody>
      </p:sp>
      <p:grpSp>
        <p:nvGrpSpPr>
          <p:cNvPr id="7" name="object 7">
            <a:extLst>
              <a:ext uri="{FF2B5EF4-FFF2-40B4-BE49-F238E27FC236}">
                <a16:creationId xmlns:a16="http://schemas.microsoft.com/office/drawing/2014/main" id="{430CE5FC-8E39-B224-336A-B81729FD4212}"/>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FE0E310F-08D7-75E6-800E-68F749640D65}"/>
                </a:ext>
              </a:extLst>
            </p:cNvPr>
            <p:cNvPicPr/>
            <p:nvPr/>
          </p:nvPicPr>
          <p:blipFill>
            <a:blip r:embed="rId3"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BF30E491-DBD5-6CB5-6470-8524C3B909A6}"/>
                </a:ext>
              </a:extLst>
            </p:cNvPr>
            <p:cNvPicPr/>
            <p:nvPr/>
          </p:nvPicPr>
          <p:blipFill>
            <a:blip r:embed="rId4"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FB63E07E-027F-21F9-140A-0A7DBDA429FD}"/>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6B8E8D29-68BF-E3B7-5299-79B5689488AA}"/>
                </a:ext>
              </a:extLst>
            </p:cNvPr>
            <p:cNvPicPr/>
            <p:nvPr/>
          </p:nvPicPr>
          <p:blipFill>
            <a:blip r:embed="rId5"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31BC4F19-AB65-4B9C-4731-C7DC132FE0D3}"/>
                </a:ext>
              </a:extLst>
            </p:cNvPr>
            <p:cNvPicPr/>
            <p:nvPr/>
          </p:nvPicPr>
          <p:blipFill>
            <a:blip r:embed="rId6"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6EE2FDBA-53B7-20B6-4442-DB6B54ABCE39}"/>
              </a:ext>
            </a:extLst>
          </p:cNvPr>
          <p:cNvSpPr txBox="1">
            <a:spLocks noGrp="1"/>
          </p:cNvSpPr>
          <p:nvPr>
            <p:ph type="title"/>
          </p:nvPr>
        </p:nvSpPr>
        <p:spPr>
          <a:xfrm>
            <a:off x="457200" y="1647650"/>
            <a:ext cx="16263604" cy="1077218"/>
          </a:xfrm>
          <a:prstGeom prst="rect">
            <a:avLst/>
          </a:prstGeom>
        </p:spPr>
        <p:txBody>
          <a:bodyPr vert="horz" wrap="square" lIns="0" tIns="12700" rIns="0" bIns="0" rtlCol="0">
            <a:spAutoFit/>
          </a:bodyPr>
          <a:lstStyle/>
          <a:p>
            <a:pPr marL="12700">
              <a:lnSpc>
                <a:spcPts val="8325"/>
              </a:lnSpc>
              <a:spcBef>
                <a:spcPts val="100"/>
              </a:spcBef>
            </a:pPr>
            <a:r>
              <a:rPr lang="en-GB" dirty="0"/>
              <a:t>Pivot Tables and Pivot Charts </a:t>
            </a:r>
            <a:endParaRPr b="0" spc="-1095" dirty="0"/>
          </a:p>
        </p:txBody>
      </p:sp>
      <p:sp>
        <p:nvSpPr>
          <p:cNvPr id="18" name="Text Placeholder 17">
            <a:extLst>
              <a:ext uri="{FF2B5EF4-FFF2-40B4-BE49-F238E27FC236}">
                <a16:creationId xmlns:a16="http://schemas.microsoft.com/office/drawing/2014/main" id="{434D370C-036E-3F0F-B647-939D29D13C8E}"/>
              </a:ext>
            </a:extLst>
          </p:cNvPr>
          <p:cNvSpPr>
            <a:spLocks noGrp="1"/>
          </p:cNvSpPr>
          <p:nvPr>
            <p:ph type="body" idx="1"/>
          </p:nvPr>
        </p:nvSpPr>
        <p:spPr>
          <a:xfrm>
            <a:off x="685800" y="3133100"/>
            <a:ext cx="8154670" cy="1231106"/>
          </a:xfrm>
        </p:spPr>
        <p:txBody>
          <a:bodyPr/>
          <a:lstStyle/>
          <a:p>
            <a:r>
              <a:rPr lang="en-GB" sz="4000" b="1" dirty="0"/>
              <a:t>product category by sales</a:t>
            </a:r>
          </a:p>
          <a:p>
            <a:endParaRPr lang="en-AS" sz="4000" b="1" dirty="0"/>
          </a:p>
        </p:txBody>
      </p:sp>
      <p:sp>
        <p:nvSpPr>
          <p:cNvPr id="20" name="TextBox 19">
            <a:extLst>
              <a:ext uri="{FF2B5EF4-FFF2-40B4-BE49-F238E27FC236}">
                <a16:creationId xmlns:a16="http://schemas.microsoft.com/office/drawing/2014/main" id="{434B244C-5B06-B121-0A10-A708A5914218}"/>
              </a:ext>
            </a:extLst>
          </p:cNvPr>
          <p:cNvSpPr txBox="1"/>
          <p:nvPr/>
        </p:nvSpPr>
        <p:spPr>
          <a:xfrm>
            <a:off x="4463716" y="4928755"/>
            <a:ext cx="9216188" cy="369332"/>
          </a:xfrm>
          <a:prstGeom prst="rect">
            <a:avLst/>
          </a:prstGeom>
          <a:noFill/>
        </p:spPr>
        <p:txBody>
          <a:bodyPr wrap="square">
            <a:spAutoFit/>
          </a:bodyPr>
          <a:lstStyle/>
          <a:p>
            <a:endParaRPr lang="en-AS" dirty="0"/>
          </a:p>
        </p:txBody>
      </p:sp>
      <p:graphicFrame>
        <p:nvGraphicFramePr>
          <p:cNvPr id="25" name="Table 24">
            <a:extLst>
              <a:ext uri="{FF2B5EF4-FFF2-40B4-BE49-F238E27FC236}">
                <a16:creationId xmlns:a16="http://schemas.microsoft.com/office/drawing/2014/main" id="{51E83CBB-4430-1F1C-168A-129E4B1F247E}"/>
              </a:ext>
            </a:extLst>
          </p:cNvPr>
          <p:cNvGraphicFramePr>
            <a:graphicFrameLocks noGrp="1"/>
          </p:cNvGraphicFramePr>
          <p:nvPr>
            <p:extLst>
              <p:ext uri="{D42A27DB-BD31-4B8C-83A1-F6EECF244321}">
                <p14:modId xmlns:p14="http://schemas.microsoft.com/office/powerpoint/2010/main" val="153744373"/>
              </p:ext>
            </p:extLst>
          </p:nvPr>
        </p:nvGraphicFramePr>
        <p:xfrm>
          <a:off x="1066800" y="4152899"/>
          <a:ext cx="8677954" cy="4004380"/>
        </p:xfrm>
        <a:graphic>
          <a:graphicData uri="http://schemas.openxmlformats.org/drawingml/2006/table">
            <a:tbl>
              <a:tblPr>
                <a:tableStyleId>{5C22544A-7EE6-4342-B048-85BDC9FD1C3A}</a:tableStyleId>
              </a:tblPr>
              <a:tblGrid>
                <a:gridCol w="5358518">
                  <a:extLst>
                    <a:ext uri="{9D8B030D-6E8A-4147-A177-3AD203B41FA5}">
                      <a16:colId xmlns:a16="http://schemas.microsoft.com/office/drawing/2014/main" val="3816052723"/>
                    </a:ext>
                  </a:extLst>
                </a:gridCol>
                <a:gridCol w="3319436">
                  <a:extLst>
                    <a:ext uri="{9D8B030D-6E8A-4147-A177-3AD203B41FA5}">
                      <a16:colId xmlns:a16="http://schemas.microsoft.com/office/drawing/2014/main" val="1489697666"/>
                    </a:ext>
                  </a:extLst>
                </a:gridCol>
              </a:tblGrid>
              <a:tr h="800876">
                <a:tc>
                  <a:txBody>
                    <a:bodyPr/>
                    <a:lstStyle/>
                    <a:p>
                      <a:pPr algn="l" fontAlgn="b"/>
                      <a:r>
                        <a:rPr lang="en-GB" sz="2800" u="none" strike="noStrike" dirty="0">
                          <a:solidFill>
                            <a:schemeClr val="bg1"/>
                          </a:solidFill>
                          <a:effectLst/>
                          <a:latin typeface="Illuma Black" panose="00000A00000000000000" pitchFamily="2" charset="0"/>
                        </a:rPr>
                        <a:t>Product category</a:t>
                      </a:r>
                      <a:endParaRPr lang="en-GB" sz="28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GB" sz="2800" u="none" strike="noStrike" dirty="0">
                          <a:solidFill>
                            <a:schemeClr val="bg1"/>
                          </a:solidFill>
                          <a:effectLst/>
                          <a:latin typeface="Illuma Black" panose="00000A00000000000000" pitchFamily="2" charset="0"/>
                        </a:rPr>
                        <a:t>Sum of Sales</a:t>
                      </a:r>
                      <a:endParaRPr lang="en-GB" sz="28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3905725595"/>
                  </a:ext>
                </a:extLst>
              </a:tr>
              <a:tr h="800876">
                <a:tc>
                  <a:txBody>
                    <a:bodyPr/>
                    <a:lstStyle/>
                    <a:p>
                      <a:pPr algn="l" fontAlgn="b"/>
                      <a:r>
                        <a:rPr lang="en-GB" sz="2800" u="none" strike="noStrike" dirty="0">
                          <a:solidFill>
                            <a:schemeClr val="bg1"/>
                          </a:solidFill>
                          <a:effectLst/>
                          <a:latin typeface="Illuma Black" panose="00000A00000000000000" pitchFamily="2" charset="0"/>
                        </a:rPr>
                        <a:t>Furniture</a:t>
                      </a:r>
                      <a:endParaRPr lang="en-GB" sz="28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2800" u="none" strike="noStrike" dirty="0">
                          <a:solidFill>
                            <a:schemeClr val="bg1"/>
                          </a:solidFill>
                          <a:effectLst/>
                          <a:latin typeface="Illuma Black" panose="00000A00000000000000" pitchFamily="2" charset="0"/>
                        </a:rPr>
                        <a:t>741999.7953</a:t>
                      </a:r>
                      <a:endParaRPr lang="en-AS" sz="28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232714425"/>
                  </a:ext>
                </a:extLst>
              </a:tr>
              <a:tr h="800876">
                <a:tc>
                  <a:txBody>
                    <a:bodyPr/>
                    <a:lstStyle/>
                    <a:p>
                      <a:pPr algn="l" fontAlgn="b"/>
                      <a:r>
                        <a:rPr lang="en-GB" sz="2800" u="none" strike="noStrike" dirty="0">
                          <a:solidFill>
                            <a:srgbClr val="FF0000"/>
                          </a:solidFill>
                          <a:effectLst/>
                          <a:latin typeface="Illuma Black" panose="00000A00000000000000" pitchFamily="2" charset="0"/>
                        </a:rPr>
                        <a:t>Office Supplies</a:t>
                      </a:r>
                      <a:endParaRPr lang="en-GB" sz="2800" b="0"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2800" u="none" strike="noStrike" dirty="0">
                          <a:solidFill>
                            <a:srgbClr val="FF0000"/>
                          </a:solidFill>
                          <a:effectLst/>
                          <a:latin typeface="Illuma Black" panose="00000A00000000000000" pitchFamily="2" charset="0"/>
                        </a:rPr>
                        <a:t>719047.032</a:t>
                      </a:r>
                      <a:endParaRPr lang="en-AS" sz="2800" b="0"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142330939"/>
                  </a:ext>
                </a:extLst>
              </a:tr>
              <a:tr h="800876">
                <a:tc>
                  <a:txBody>
                    <a:bodyPr/>
                    <a:lstStyle/>
                    <a:p>
                      <a:pPr algn="l" fontAlgn="b"/>
                      <a:r>
                        <a:rPr lang="en-GB" sz="2800" u="none" strike="noStrike" dirty="0">
                          <a:solidFill>
                            <a:srgbClr val="00B050"/>
                          </a:solidFill>
                          <a:effectLst/>
                          <a:latin typeface="Illuma Black" panose="00000A00000000000000" pitchFamily="2" charset="0"/>
                        </a:rPr>
                        <a:t>Technology</a:t>
                      </a:r>
                      <a:endParaRPr lang="en-GB" sz="2800" b="0"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2800" u="none" strike="noStrike" dirty="0">
                          <a:solidFill>
                            <a:srgbClr val="00B050"/>
                          </a:solidFill>
                          <a:effectLst/>
                          <a:latin typeface="Illuma Black" panose="00000A00000000000000" pitchFamily="2" charset="0"/>
                        </a:rPr>
                        <a:t>836154.033</a:t>
                      </a:r>
                      <a:endParaRPr lang="en-AS" sz="2800" b="0"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771497250"/>
                  </a:ext>
                </a:extLst>
              </a:tr>
              <a:tr h="800876">
                <a:tc>
                  <a:txBody>
                    <a:bodyPr/>
                    <a:lstStyle/>
                    <a:p>
                      <a:pPr algn="l" fontAlgn="b"/>
                      <a:r>
                        <a:rPr lang="en-GB" sz="2800" u="none" strike="noStrike" dirty="0">
                          <a:solidFill>
                            <a:schemeClr val="bg1"/>
                          </a:solidFill>
                          <a:effectLst/>
                          <a:latin typeface="Illuma Black" panose="00000A00000000000000" pitchFamily="2" charset="0"/>
                        </a:rPr>
                        <a:t>Grand Total</a:t>
                      </a:r>
                      <a:endParaRPr lang="en-GB" sz="28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2800" u="none" strike="noStrike" dirty="0">
                          <a:solidFill>
                            <a:schemeClr val="bg1"/>
                          </a:solidFill>
                          <a:effectLst/>
                          <a:latin typeface="Illuma Black" panose="00000A00000000000000" pitchFamily="2" charset="0"/>
                        </a:rPr>
                        <a:t>2297200.86</a:t>
                      </a:r>
                      <a:endParaRPr lang="en-AS" sz="28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717794936"/>
                  </a:ext>
                </a:extLst>
              </a:tr>
            </a:tbl>
          </a:graphicData>
        </a:graphic>
      </p:graphicFrame>
      <p:graphicFrame>
        <p:nvGraphicFramePr>
          <p:cNvPr id="3" name="Chart 2">
            <a:extLst>
              <a:ext uri="{FF2B5EF4-FFF2-40B4-BE49-F238E27FC236}">
                <a16:creationId xmlns:a16="http://schemas.microsoft.com/office/drawing/2014/main" id="{B2166E5B-4CD3-DFCE-F262-2A12352F3866}"/>
              </a:ext>
            </a:extLst>
          </p:cNvPr>
          <p:cNvGraphicFramePr>
            <a:graphicFrameLocks/>
          </p:cNvGraphicFramePr>
          <p:nvPr>
            <p:extLst>
              <p:ext uri="{D42A27DB-BD31-4B8C-83A1-F6EECF244321}">
                <p14:modId xmlns:p14="http://schemas.microsoft.com/office/powerpoint/2010/main" val="593733072"/>
              </p:ext>
            </p:extLst>
          </p:nvPr>
        </p:nvGraphicFramePr>
        <p:xfrm>
          <a:off x="10125754" y="3467100"/>
          <a:ext cx="7857447" cy="4953000"/>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46340130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Effect transition="in" filter="barn(inVertical)">
                                      <p:cBhvr>
                                        <p:cTn id="13" dur="500"/>
                                        <p:tgtEl>
                                          <p:spTgt spid="1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additive="base">
                                        <p:cTn id="18" dur="500" fill="hold"/>
                                        <p:tgtEl>
                                          <p:spTgt spid="25"/>
                                        </p:tgtEl>
                                        <p:attrNameLst>
                                          <p:attrName>ppt_x</p:attrName>
                                        </p:attrNameLst>
                                      </p:cBhvr>
                                      <p:tavLst>
                                        <p:tav tm="0">
                                          <p:val>
                                            <p:strVal val="#ppt_x"/>
                                          </p:val>
                                        </p:tav>
                                        <p:tav tm="100000">
                                          <p:val>
                                            <p:strVal val="#ppt_x"/>
                                          </p:val>
                                        </p:tav>
                                      </p:tavLst>
                                    </p:anim>
                                    <p:anim calcmode="lin" valueType="num">
                                      <p:cBhvr additive="base">
                                        <p:cTn id="1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fltVal val="0"/>
                                          </p:val>
                                        </p:tav>
                                        <p:tav tm="100000">
                                          <p:val>
                                            <p:strVal val="#ppt_w"/>
                                          </p:val>
                                        </p:tav>
                                      </p:tavLst>
                                    </p:anim>
                                    <p:anim calcmode="lin" valueType="num">
                                      <p:cBhvr>
                                        <p:cTn id="25" dur="1000" fill="hold"/>
                                        <p:tgtEl>
                                          <p:spTgt spid="3"/>
                                        </p:tgtEl>
                                        <p:attrNameLst>
                                          <p:attrName>ppt_h</p:attrName>
                                        </p:attrNameLst>
                                      </p:cBhvr>
                                      <p:tavLst>
                                        <p:tav tm="0">
                                          <p:val>
                                            <p:fltVal val="0"/>
                                          </p:val>
                                        </p:tav>
                                        <p:tav tm="100000">
                                          <p:val>
                                            <p:strVal val="#ppt_h"/>
                                          </p:val>
                                        </p:tav>
                                      </p:tavLst>
                                    </p:anim>
                                    <p:anim calcmode="lin" valueType="num">
                                      <p:cBhvr>
                                        <p:cTn id="26" dur="1000" fill="hold"/>
                                        <p:tgtEl>
                                          <p:spTgt spid="3"/>
                                        </p:tgtEl>
                                        <p:attrNameLst>
                                          <p:attrName>style.rotation</p:attrName>
                                        </p:attrNameLst>
                                      </p:cBhvr>
                                      <p:tavLst>
                                        <p:tav tm="0">
                                          <p:val>
                                            <p:fltVal val="90"/>
                                          </p:val>
                                        </p:tav>
                                        <p:tav tm="100000">
                                          <p:val>
                                            <p:fltVal val="0"/>
                                          </p:val>
                                        </p:tav>
                                      </p:tavLst>
                                    </p:anim>
                                    <p:animEffect transition="in" filter="fade">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build="p"/>
      <p:bldGraphic spid="3"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0D402-D726-B280-F7C7-48A972626F47}"/>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B48CDB26-ECFB-F986-462C-C24D5F3FBE91}"/>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A78D4593-079D-0C86-254E-001C92AD4F15}"/>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4531B006-3903-26F1-D2C0-B91F5E35916E}"/>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99661015-16A6-1A43-9C1A-F5A112948C3F}"/>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E14666D0-1FD0-505E-DCB3-B4C84648BFD9}"/>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96C00819-F357-3E6E-8A8E-A79E9F72A758}"/>
                </a:ext>
              </a:extLst>
            </p:cNvPr>
            <p:cNvPicPr/>
            <p:nvPr/>
          </p:nvPicPr>
          <p:blipFill>
            <a:blip r:embed="rId5" cstate="print"/>
            <a:stretch>
              <a:fillRect/>
            </a:stretch>
          </p:blipFill>
          <p:spPr>
            <a:xfrm>
              <a:off x="12103836" y="390676"/>
              <a:ext cx="5725954" cy="1209972"/>
            </a:xfrm>
            <a:prstGeom prst="rect">
              <a:avLst/>
            </a:prstGeom>
          </p:spPr>
        </p:pic>
      </p:grpSp>
      <p:sp>
        <p:nvSpPr>
          <p:cNvPr id="19" name="Title 18">
            <a:extLst>
              <a:ext uri="{FF2B5EF4-FFF2-40B4-BE49-F238E27FC236}">
                <a16:creationId xmlns:a16="http://schemas.microsoft.com/office/drawing/2014/main" id="{386EF866-D6D6-E179-D3A0-C65753D415ED}"/>
              </a:ext>
            </a:extLst>
          </p:cNvPr>
          <p:cNvSpPr>
            <a:spLocks noGrp="1"/>
          </p:cNvSpPr>
          <p:nvPr>
            <p:ph type="title"/>
          </p:nvPr>
        </p:nvSpPr>
        <p:spPr>
          <a:xfrm>
            <a:off x="458210" y="423779"/>
            <a:ext cx="9880600" cy="2492990"/>
          </a:xfrm>
        </p:spPr>
        <p:txBody>
          <a:bodyPr/>
          <a:lstStyle/>
          <a:p>
            <a:r>
              <a:rPr lang="en-GB" sz="5400" u="none" strike="noStrike" dirty="0">
                <a:effectLst/>
              </a:rPr>
              <a:t>customer segment by sales</a:t>
            </a:r>
            <a:br>
              <a:rPr lang="en-GB" sz="5400" b="1" i="0" u="none" strike="noStrike" dirty="0">
                <a:solidFill>
                  <a:srgbClr val="000000"/>
                </a:solidFill>
                <a:effectLst/>
                <a:latin typeface="Arial" panose="020B0604020202020204" pitchFamily="34" charset="0"/>
              </a:rPr>
            </a:br>
            <a:endParaRPr lang="en-AS" sz="5400" dirty="0"/>
          </a:p>
        </p:txBody>
      </p:sp>
      <p:sp>
        <p:nvSpPr>
          <p:cNvPr id="21" name="Text Placeholder 20">
            <a:extLst>
              <a:ext uri="{FF2B5EF4-FFF2-40B4-BE49-F238E27FC236}">
                <a16:creationId xmlns:a16="http://schemas.microsoft.com/office/drawing/2014/main" id="{D4B0EDDC-0EF2-B44D-88CF-519EEB14563C}"/>
              </a:ext>
            </a:extLst>
          </p:cNvPr>
          <p:cNvSpPr>
            <a:spLocks noGrp="1"/>
          </p:cNvSpPr>
          <p:nvPr>
            <p:ph type="body" idx="1"/>
          </p:nvPr>
        </p:nvSpPr>
        <p:spPr/>
        <p:txBody>
          <a:bodyPr/>
          <a:lstStyle/>
          <a:p>
            <a:endParaRPr lang="en-AS" dirty="0"/>
          </a:p>
        </p:txBody>
      </p:sp>
      <p:graphicFrame>
        <p:nvGraphicFramePr>
          <p:cNvPr id="22" name="Table 21">
            <a:extLst>
              <a:ext uri="{FF2B5EF4-FFF2-40B4-BE49-F238E27FC236}">
                <a16:creationId xmlns:a16="http://schemas.microsoft.com/office/drawing/2014/main" id="{92AAAC1A-979F-878D-6824-F01A1915D0FF}"/>
              </a:ext>
            </a:extLst>
          </p:cNvPr>
          <p:cNvGraphicFramePr>
            <a:graphicFrameLocks noGrp="1"/>
          </p:cNvGraphicFramePr>
          <p:nvPr>
            <p:extLst>
              <p:ext uri="{D42A27DB-BD31-4B8C-83A1-F6EECF244321}">
                <p14:modId xmlns:p14="http://schemas.microsoft.com/office/powerpoint/2010/main" val="1511644597"/>
              </p:ext>
            </p:extLst>
          </p:nvPr>
        </p:nvGraphicFramePr>
        <p:xfrm>
          <a:off x="762000" y="1886558"/>
          <a:ext cx="9576809" cy="6381140"/>
        </p:xfrm>
        <a:graphic>
          <a:graphicData uri="http://schemas.openxmlformats.org/drawingml/2006/table">
            <a:tbl>
              <a:tblPr>
                <a:tableStyleId>{5C22544A-7EE6-4342-B048-85BDC9FD1C3A}</a:tableStyleId>
              </a:tblPr>
              <a:tblGrid>
                <a:gridCol w="5913549">
                  <a:extLst>
                    <a:ext uri="{9D8B030D-6E8A-4147-A177-3AD203B41FA5}">
                      <a16:colId xmlns:a16="http://schemas.microsoft.com/office/drawing/2014/main" val="3408470381"/>
                    </a:ext>
                  </a:extLst>
                </a:gridCol>
                <a:gridCol w="3663260">
                  <a:extLst>
                    <a:ext uri="{9D8B030D-6E8A-4147-A177-3AD203B41FA5}">
                      <a16:colId xmlns:a16="http://schemas.microsoft.com/office/drawing/2014/main" val="3858713923"/>
                    </a:ext>
                  </a:extLst>
                </a:gridCol>
              </a:tblGrid>
              <a:tr h="1276228">
                <a:tc>
                  <a:txBody>
                    <a:bodyPr/>
                    <a:lstStyle/>
                    <a:p>
                      <a:pPr algn="l" fontAlgn="b"/>
                      <a:r>
                        <a:rPr lang="en-GB" sz="4000" u="none" strike="noStrike" dirty="0">
                          <a:solidFill>
                            <a:schemeClr val="bg1"/>
                          </a:solidFill>
                          <a:effectLst/>
                          <a:latin typeface="Illuma Black" panose="00000A00000000000000" pitchFamily="2" charset="0"/>
                        </a:rPr>
                        <a:t>customer segment</a:t>
                      </a:r>
                      <a:endParaRPr lang="en-GB" sz="4000" b="1" i="0" u="none" strike="noStrike" dirty="0">
                        <a:solidFill>
                          <a:schemeClr val="bg1"/>
                        </a:solidFill>
                        <a:effectLst/>
                        <a:latin typeface="Illuma Black" panose="00000A00000000000000" pitchFamily="2" charset="0"/>
                      </a:endParaRPr>
                    </a:p>
                  </a:txBody>
                  <a:tcPr marL="9525" marR="9525" marT="9525" marB="0" anchor="b">
                    <a:noFill/>
                  </a:tcPr>
                </a:tc>
                <a:tc>
                  <a:txBody>
                    <a:bodyPr/>
                    <a:lstStyle/>
                    <a:p>
                      <a:pPr algn="l" fontAlgn="b"/>
                      <a:r>
                        <a:rPr lang="en-GB" sz="4000" u="none" strike="noStrike" dirty="0">
                          <a:solidFill>
                            <a:schemeClr val="bg1"/>
                          </a:solidFill>
                          <a:effectLst/>
                          <a:latin typeface="Illuma Black" panose="00000A00000000000000" pitchFamily="2" charset="0"/>
                        </a:rPr>
                        <a:t>Sum of Sales</a:t>
                      </a:r>
                      <a:endParaRPr lang="en-GB" sz="40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685968176"/>
                  </a:ext>
                </a:extLst>
              </a:tr>
              <a:tr h="1276228">
                <a:tc>
                  <a:txBody>
                    <a:bodyPr/>
                    <a:lstStyle/>
                    <a:p>
                      <a:pPr algn="l" fontAlgn="b"/>
                      <a:r>
                        <a:rPr lang="en-GB" sz="4000" u="none" strike="noStrike" dirty="0">
                          <a:solidFill>
                            <a:srgbClr val="00B050"/>
                          </a:solidFill>
                          <a:effectLst/>
                          <a:latin typeface="Illuma Black" panose="00000A00000000000000" pitchFamily="2" charset="0"/>
                        </a:rPr>
                        <a:t>Consumer</a:t>
                      </a:r>
                      <a:endParaRPr lang="en-GB" sz="4000" b="0"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4000" u="none" strike="noStrike" dirty="0">
                          <a:solidFill>
                            <a:srgbClr val="00B050"/>
                          </a:solidFill>
                          <a:effectLst/>
                          <a:latin typeface="Illuma Black" panose="00000A00000000000000" pitchFamily="2" charset="0"/>
                        </a:rPr>
                        <a:t>1161401.345</a:t>
                      </a:r>
                      <a:endParaRPr lang="en-AS" sz="4000" b="0"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030073209"/>
                  </a:ext>
                </a:extLst>
              </a:tr>
              <a:tr h="1276228">
                <a:tc>
                  <a:txBody>
                    <a:bodyPr/>
                    <a:lstStyle/>
                    <a:p>
                      <a:pPr algn="l" fontAlgn="b"/>
                      <a:r>
                        <a:rPr lang="en-GB" sz="4000" u="none" strike="noStrike" dirty="0">
                          <a:solidFill>
                            <a:schemeClr val="bg1"/>
                          </a:solidFill>
                          <a:effectLst/>
                          <a:latin typeface="Illuma Black" panose="00000A00000000000000" pitchFamily="2" charset="0"/>
                        </a:rPr>
                        <a:t>Corporate</a:t>
                      </a:r>
                      <a:endParaRPr lang="en-GB" sz="40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4000" u="none" strike="noStrike" dirty="0">
                          <a:solidFill>
                            <a:schemeClr val="bg1"/>
                          </a:solidFill>
                          <a:effectLst/>
                          <a:latin typeface="Illuma Black" panose="00000A00000000000000" pitchFamily="2" charset="0"/>
                        </a:rPr>
                        <a:t>706146.3668</a:t>
                      </a:r>
                      <a:endParaRPr lang="en-AS" sz="40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216606947"/>
                  </a:ext>
                </a:extLst>
              </a:tr>
              <a:tr h="1276228">
                <a:tc>
                  <a:txBody>
                    <a:bodyPr/>
                    <a:lstStyle/>
                    <a:p>
                      <a:pPr algn="l" fontAlgn="b"/>
                      <a:r>
                        <a:rPr lang="en-GB" sz="4000" u="none" strike="noStrike">
                          <a:solidFill>
                            <a:srgbClr val="FF0000"/>
                          </a:solidFill>
                          <a:effectLst/>
                          <a:latin typeface="Illuma Black" panose="00000A00000000000000" pitchFamily="2" charset="0"/>
                        </a:rPr>
                        <a:t>Home Office</a:t>
                      </a:r>
                      <a:endParaRPr lang="en-GB" sz="4000" b="0" i="0" u="none" strike="noStrike">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4000" u="none" strike="noStrike" dirty="0">
                          <a:solidFill>
                            <a:srgbClr val="FF0000"/>
                          </a:solidFill>
                          <a:effectLst/>
                          <a:latin typeface="Illuma Black" panose="00000A00000000000000" pitchFamily="2" charset="0"/>
                        </a:rPr>
                        <a:t>429653.1485</a:t>
                      </a:r>
                      <a:endParaRPr lang="en-AS" sz="4000" b="0"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413371991"/>
                  </a:ext>
                </a:extLst>
              </a:tr>
              <a:tr h="1276228">
                <a:tc>
                  <a:txBody>
                    <a:bodyPr/>
                    <a:lstStyle/>
                    <a:p>
                      <a:pPr algn="l" fontAlgn="b"/>
                      <a:r>
                        <a:rPr lang="en-GB" sz="4000" u="none" strike="noStrike">
                          <a:solidFill>
                            <a:schemeClr val="bg1"/>
                          </a:solidFill>
                          <a:effectLst/>
                          <a:latin typeface="Illuma Black" panose="00000A00000000000000" pitchFamily="2" charset="0"/>
                        </a:rPr>
                        <a:t>Grand Total</a:t>
                      </a:r>
                      <a:endParaRPr lang="en-GB" sz="4000" b="1"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4000" u="none" strike="noStrike" dirty="0">
                          <a:solidFill>
                            <a:schemeClr val="bg1"/>
                          </a:solidFill>
                          <a:effectLst/>
                          <a:latin typeface="Illuma Black" panose="00000A00000000000000" pitchFamily="2" charset="0"/>
                        </a:rPr>
                        <a:t>2297200.86</a:t>
                      </a:r>
                      <a:endParaRPr lang="en-AS" sz="40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86533858"/>
                  </a:ext>
                </a:extLst>
              </a:tr>
            </a:tbl>
          </a:graphicData>
        </a:graphic>
      </p:graphicFrame>
      <p:graphicFrame>
        <p:nvGraphicFramePr>
          <p:cNvPr id="2" name="Chart 1">
            <a:extLst>
              <a:ext uri="{FF2B5EF4-FFF2-40B4-BE49-F238E27FC236}">
                <a16:creationId xmlns:a16="http://schemas.microsoft.com/office/drawing/2014/main" id="{6DF798D5-540C-A64F-5AF7-2801B65DBF98}"/>
              </a:ext>
            </a:extLst>
          </p:cNvPr>
          <p:cNvGraphicFramePr>
            <a:graphicFrameLocks/>
          </p:cNvGraphicFramePr>
          <p:nvPr>
            <p:extLst>
              <p:ext uri="{D42A27DB-BD31-4B8C-83A1-F6EECF244321}">
                <p14:modId xmlns:p14="http://schemas.microsoft.com/office/powerpoint/2010/main" val="2332775366"/>
              </p:ext>
            </p:extLst>
          </p:nvPr>
        </p:nvGraphicFramePr>
        <p:xfrm>
          <a:off x="11201400" y="2103059"/>
          <a:ext cx="6628390" cy="586393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2275975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down)">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1000" fill="hold"/>
                                        <p:tgtEl>
                                          <p:spTgt spid="2"/>
                                        </p:tgtEl>
                                        <p:attrNameLst>
                                          <p:attrName>ppt_w</p:attrName>
                                        </p:attrNameLst>
                                      </p:cBhvr>
                                      <p:tavLst>
                                        <p:tav tm="0">
                                          <p:val>
                                            <p:fltVal val="0"/>
                                          </p:val>
                                        </p:tav>
                                        <p:tav tm="100000">
                                          <p:val>
                                            <p:strVal val="#ppt_w"/>
                                          </p:val>
                                        </p:tav>
                                      </p:tavLst>
                                    </p:anim>
                                    <p:anim calcmode="lin" valueType="num">
                                      <p:cBhvr>
                                        <p:cTn id="19" dur="1000" fill="hold"/>
                                        <p:tgtEl>
                                          <p:spTgt spid="2"/>
                                        </p:tgtEl>
                                        <p:attrNameLst>
                                          <p:attrName>ppt_h</p:attrName>
                                        </p:attrNameLst>
                                      </p:cBhvr>
                                      <p:tavLst>
                                        <p:tav tm="0">
                                          <p:val>
                                            <p:fltVal val="0"/>
                                          </p:val>
                                        </p:tav>
                                        <p:tav tm="100000">
                                          <p:val>
                                            <p:strVal val="#ppt_h"/>
                                          </p:val>
                                        </p:tav>
                                      </p:tavLst>
                                    </p:anim>
                                    <p:anim calcmode="lin" valueType="num">
                                      <p:cBhvr>
                                        <p:cTn id="20" dur="1000" fill="hold"/>
                                        <p:tgtEl>
                                          <p:spTgt spid="2"/>
                                        </p:tgtEl>
                                        <p:attrNameLst>
                                          <p:attrName>style.rotation</p:attrName>
                                        </p:attrNameLst>
                                      </p:cBhvr>
                                      <p:tavLst>
                                        <p:tav tm="0">
                                          <p:val>
                                            <p:fltVal val="90"/>
                                          </p:val>
                                        </p:tav>
                                        <p:tav tm="100000">
                                          <p:val>
                                            <p:fltVal val="0"/>
                                          </p:val>
                                        </p:tav>
                                      </p:tavLst>
                                    </p:anim>
                                    <p:animEffect transition="in" filter="fade">
                                      <p:cBhvr>
                                        <p:cTn id="2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Graphic spid="2"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7E7A-8EF6-3CE2-545A-69D60E79F38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CFBDC9D-1A96-9EBA-F12E-D2FB633DAD0C}"/>
              </a:ext>
            </a:extLst>
          </p:cNvPr>
          <p:cNvSpPr/>
          <p:nvPr/>
        </p:nvSpPr>
        <p:spPr>
          <a:xfrm>
            <a:off x="-28074"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a:p>
        </p:txBody>
      </p:sp>
      <p:grpSp>
        <p:nvGrpSpPr>
          <p:cNvPr id="7" name="object 7">
            <a:extLst>
              <a:ext uri="{FF2B5EF4-FFF2-40B4-BE49-F238E27FC236}">
                <a16:creationId xmlns:a16="http://schemas.microsoft.com/office/drawing/2014/main" id="{B8EBC7C6-10F7-B26F-1FE8-16D0DFAB7CB4}"/>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B7A92870-5269-A7A6-54B9-007B109301A7}"/>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30BA9C6D-7867-4806-E80F-15B319977F57}"/>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811B7E4D-92E7-E76B-3B57-6CDDE0F9A8F5}"/>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AFC7E14D-9FB0-E81B-D350-724042966A19}"/>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BB0A8CBD-6F0A-0F15-868E-6FA13B905736}"/>
                </a:ext>
              </a:extLst>
            </p:cNvPr>
            <p:cNvPicPr/>
            <p:nvPr/>
          </p:nvPicPr>
          <p:blipFill>
            <a:blip r:embed="rId5" cstate="print"/>
            <a:stretch>
              <a:fillRect/>
            </a:stretch>
          </p:blipFill>
          <p:spPr>
            <a:xfrm>
              <a:off x="12103836" y="390676"/>
              <a:ext cx="5725954" cy="1209972"/>
            </a:xfrm>
            <a:prstGeom prst="rect">
              <a:avLst/>
            </a:prstGeom>
          </p:spPr>
        </p:pic>
      </p:grpSp>
      <p:sp>
        <p:nvSpPr>
          <p:cNvPr id="18" name="Title 17">
            <a:extLst>
              <a:ext uri="{FF2B5EF4-FFF2-40B4-BE49-F238E27FC236}">
                <a16:creationId xmlns:a16="http://schemas.microsoft.com/office/drawing/2014/main" id="{15677094-26BA-E0E3-B3A1-F0B2468F4891}"/>
              </a:ext>
            </a:extLst>
          </p:cNvPr>
          <p:cNvSpPr>
            <a:spLocks noGrp="1"/>
          </p:cNvSpPr>
          <p:nvPr>
            <p:ph type="title"/>
          </p:nvPr>
        </p:nvSpPr>
        <p:spPr>
          <a:xfrm>
            <a:off x="762000" y="328220"/>
            <a:ext cx="10911700" cy="2462213"/>
          </a:xfrm>
        </p:spPr>
        <p:txBody>
          <a:bodyPr/>
          <a:lstStyle/>
          <a:p>
            <a:r>
              <a:rPr lang="en-GB" dirty="0"/>
              <a:t>Ship mode by sales</a:t>
            </a:r>
            <a:endParaRPr lang="en-AS" dirty="0"/>
          </a:p>
        </p:txBody>
      </p:sp>
      <p:sp>
        <p:nvSpPr>
          <p:cNvPr id="20" name="Text Placeholder 19">
            <a:extLst>
              <a:ext uri="{FF2B5EF4-FFF2-40B4-BE49-F238E27FC236}">
                <a16:creationId xmlns:a16="http://schemas.microsoft.com/office/drawing/2014/main" id="{191F7D34-663B-A240-7DF7-7AEC11D64080}"/>
              </a:ext>
            </a:extLst>
          </p:cNvPr>
          <p:cNvSpPr>
            <a:spLocks noGrp="1"/>
          </p:cNvSpPr>
          <p:nvPr>
            <p:ph type="body" idx="1"/>
          </p:nvPr>
        </p:nvSpPr>
        <p:spPr/>
        <p:txBody>
          <a:bodyPr/>
          <a:lstStyle/>
          <a:p>
            <a:endParaRPr lang="en-AS"/>
          </a:p>
        </p:txBody>
      </p:sp>
      <p:graphicFrame>
        <p:nvGraphicFramePr>
          <p:cNvPr id="21" name="Table 20">
            <a:extLst>
              <a:ext uri="{FF2B5EF4-FFF2-40B4-BE49-F238E27FC236}">
                <a16:creationId xmlns:a16="http://schemas.microsoft.com/office/drawing/2014/main" id="{79988405-9924-48E4-254B-F9AF394EAAA3}"/>
              </a:ext>
            </a:extLst>
          </p:cNvPr>
          <p:cNvGraphicFramePr>
            <a:graphicFrameLocks noGrp="1"/>
          </p:cNvGraphicFramePr>
          <p:nvPr>
            <p:extLst>
              <p:ext uri="{D42A27DB-BD31-4B8C-83A1-F6EECF244321}">
                <p14:modId xmlns:p14="http://schemas.microsoft.com/office/powerpoint/2010/main" val="220786447"/>
              </p:ext>
            </p:extLst>
          </p:nvPr>
        </p:nvGraphicFramePr>
        <p:xfrm>
          <a:off x="762001" y="2790433"/>
          <a:ext cx="9829800" cy="5261646"/>
        </p:xfrm>
        <a:graphic>
          <a:graphicData uri="http://schemas.openxmlformats.org/drawingml/2006/table">
            <a:tbl>
              <a:tblPr>
                <a:tableStyleId>{5C22544A-7EE6-4342-B048-85BDC9FD1C3A}</a:tableStyleId>
              </a:tblPr>
              <a:tblGrid>
                <a:gridCol w="6069767">
                  <a:extLst>
                    <a:ext uri="{9D8B030D-6E8A-4147-A177-3AD203B41FA5}">
                      <a16:colId xmlns:a16="http://schemas.microsoft.com/office/drawing/2014/main" val="4043180501"/>
                    </a:ext>
                  </a:extLst>
                </a:gridCol>
                <a:gridCol w="3760033">
                  <a:extLst>
                    <a:ext uri="{9D8B030D-6E8A-4147-A177-3AD203B41FA5}">
                      <a16:colId xmlns:a16="http://schemas.microsoft.com/office/drawing/2014/main" val="2581310379"/>
                    </a:ext>
                  </a:extLst>
                </a:gridCol>
              </a:tblGrid>
              <a:tr h="876941">
                <a:tc>
                  <a:txBody>
                    <a:bodyPr/>
                    <a:lstStyle/>
                    <a:p>
                      <a:pPr algn="l" fontAlgn="b"/>
                      <a:r>
                        <a:rPr lang="en-GB" sz="3600" u="none" strike="noStrike" dirty="0">
                          <a:solidFill>
                            <a:schemeClr val="bg1"/>
                          </a:solidFill>
                          <a:effectLst/>
                          <a:latin typeface="Illuma Black" panose="00000A00000000000000" pitchFamily="2" charset="0"/>
                        </a:rPr>
                        <a:t>ship mode</a:t>
                      </a:r>
                      <a:endParaRPr lang="en-GB"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GB" sz="3600" u="none" strike="noStrike" dirty="0">
                          <a:solidFill>
                            <a:schemeClr val="bg1"/>
                          </a:solidFill>
                          <a:effectLst/>
                          <a:latin typeface="Illuma Black" panose="00000A00000000000000" pitchFamily="2" charset="0"/>
                        </a:rPr>
                        <a:t>Sum of Sales</a:t>
                      </a:r>
                      <a:endParaRPr lang="en-GB"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2656272707"/>
                  </a:ext>
                </a:extLst>
              </a:tr>
              <a:tr h="876941">
                <a:tc>
                  <a:txBody>
                    <a:bodyPr/>
                    <a:lstStyle/>
                    <a:p>
                      <a:pPr algn="l" fontAlgn="b"/>
                      <a:r>
                        <a:rPr lang="en-GB" sz="3600" u="none" strike="noStrike" dirty="0">
                          <a:solidFill>
                            <a:schemeClr val="bg1"/>
                          </a:solidFill>
                          <a:effectLst/>
                          <a:latin typeface="Illuma Black" panose="00000A00000000000000" pitchFamily="2" charset="0"/>
                        </a:rPr>
                        <a:t>First Class</a:t>
                      </a:r>
                      <a:endParaRPr lang="en-GB" sz="36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351428.4229</a:t>
                      </a:r>
                      <a:endParaRPr lang="en-AS" sz="36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3215131370"/>
                  </a:ext>
                </a:extLst>
              </a:tr>
              <a:tr h="876941">
                <a:tc>
                  <a:txBody>
                    <a:bodyPr/>
                    <a:lstStyle/>
                    <a:p>
                      <a:pPr algn="l" fontAlgn="b"/>
                      <a:r>
                        <a:rPr lang="en-GB" sz="3600" u="none" strike="noStrike" dirty="0">
                          <a:solidFill>
                            <a:srgbClr val="FF0000"/>
                          </a:solidFill>
                          <a:effectLst/>
                          <a:latin typeface="Illuma Black" panose="00000A00000000000000" pitchFamily="2" charset="0"/>
                        </a:rPr>
                        <a:t>Same Day</a:t>
                      </a:r>
                      <a:endParaRPr lang="en-GB" sz="3600" b="0"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rgbClr val="FF0000"/>
                          </a:solidFill>
                          <a:effectLst/>
                          <a:latin typeface="Illuma Black" panose="00000A00000000000000" pitchFamily="2" charset="0"/>
                        </a:rPr>
                        <a:t>128363.125</a:t>
                      </a:r>
                      <a:endParaRPr lang="en-AS" sz="3600" b="0"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865715750"/>
                  </a:ext>
                </a:extLst>
              </a:tr>
              <a:tr h="876941">
                <a:tc>
                  <a:txBody>
                    <a:bodyPr/>
                    <a:lstStyle/>
                    <a:p>
                      <a:pPr algn="l" fontAlgn="b"/>
                      <a:r>
                        <a:rPr lang="en-GB" sz="3600" u="none" strike="noStrike">
                          <a:solidFill>
                            <a:srgbClr val="00B050"/>
                          </a:solidFill>
                          <a:effectLst/>
                          <a:latin typeface="Illuma Black" panose="00000A00000000000000" pitchFamily="2" charset="0"/>
                        </a:rPr>
                        <a:t>Second Class</a:t>
                      </a:r>
                      <a:endParaRPr lang="en-GB" sz="3600" b="0" i="0" u="none" strike="noStrike">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rgbClr val="00B050"/>
                          </a:solidFill>
                          <a:effectLst/>
                          <a:latin typeface="Illuma Black" panose="00000A00000000000000" pitchFamily="2" charset="0"/>
                        </a:rPr>
                        <a:t>459193.5694</a:t>
                      </a:r>
                      <a:endParaRPr lang="en-AS" sz="3600" b="0"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308723540"/>
                  </a:ext>
                </a:extLst>
              </a:tr>
              <a:tr h="876941">
                <a:tc>
                  <a:txBody>
                    <a:bodyPr/>
                    <a:lstStyle/>
                    <a:p>
                      <a:pPr algn="l" fontAlgn="b"/>
                      <a:r>
                        <a:rPr lang="en-GB" sz="3600" u="none" strike="noStrike">
                          <a:solidFill>
                            <a:schemeClr val="bg1"/>
                          </a:solidFill>
                          <a:effectLst/>
                          <a:latin typeface="Illuma Black" panose="00000A00000000000000" pitchFamily="2" charset="0"/>
                        </a:rPr>
                        <a:t>Standard Class</a:t>
                      </a:r>
                      <a:endParaRPr lang="en-GB" sz="3600" b="0"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1358215.743</a:t>
                      </a:r>
                      <a:endParaRPr lang="en-AS" sz="3600" b="0"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69412899"/>
                  </a:ext>
                </a:extLst>
              </a:tr>
              <a:tr h="876941">
                <a:tc>
                  <a:txBody>
                    <a:bodyPr/>
                    <a:lstStyle/>
                    <a:p>
                      <a:pPr algn="l" fontAlgn="b"/>
                      <a:r>
                        <a:rPr lang="en-GB" sz="3600" u="none" strike="noStrike">
                          <a:solidFill>
                            <a:schemeClr val="bg1"/>
                          </a:solidFill>
                          <a:effectLst/>
                          <a:latin typeface="Illuma Black" panose="00000A00000000000000" pitchFamily="2" charset="0"/>
                        </a:rPr>
                        <a:t>Grand Total</a:t>
                      </a:r>
                      <a:endParaRPr lang="en-GB" sz="3600" b="1"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2297200.86</a:t>
                      </a:r>
                      <a:endParaRPr lang="en-AS"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141382219"/>
                  </a:ext>
                </a:extLst>
              </a:tr>
            </a:tbl>
          </a:graphicData>
        </a:graphic>
      </p:graphicFrame>
      <p:graphicFrame>
        <p:nvGraphicFramePr>
          <p:cNvPr id="22" name="Chart 21">
            <a:extLst>
              <a:ext uri="{FF2B5EF4-FFF2-40B4-BE49-F238E27FC236}">
                <a16:creationId xmlns:a16="http://schemas.microsoft.com/office/drawing/2014/main" id="{EE275C2F-AC17-AB22-EF7F-0833DD705E36}"/>
              </a:ext>
            </a:extLst>
          </p:cNvPr>
          <p:cNvGraphicFramePr>
            <a:graphicFrameLocks/>
          </p:cNvGraphicFramePr>
          <p:nvPr>
            <p:extLst>
              <p:ext uri="{D42A27DB-BD31-4B8C-83A1-F6EECF244321}">
                <p14:modId xmlns:p14="http://schemas.microsoft.com/office/powerpoint/2010/main" val="2629544928"/>
              </p:ext>
            </p:extLst>
          </p:nvPr>
        </p:nvGraphicFramePr>
        <p:xfrm>
          <a:off x="10877884" y="2790433"/>
          <a:ext cx="7225506" cy="517655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7224089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circle(in)">
                                      <p:cBhvr>
                                        <p:cTn id="19"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Graphic spid="22"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487B8-B9E6-32F3-AE8E-E6F2440B30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0C593B0-8EEB-046F-65F6-362B294E626A}"/>
              </a:ext>
            </a:extLst>
          </p:cNvPr>
          <p:cNvSpPr/>
          <p:nvPr/>
        </p:nvSpPr>
        <p:spPr>
          <a:xfrm>
            <a:off x="18461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a:p>
        </p:txBody>
      </p:sp>
      <p:grpSp>
        <p:nvGrpSpPr>
          <p:cNvPr id="7" name="object 7">
            <a:extLst>
              <a:ext uri="{FF2B5EF4-FFF2-40B4-BE49-F238E27FC236}">
                <a16:creationId xmlns:a16="http://schemas.microsoft.com/office/drawing/2014/main" id="{1A2D1AE3-235A-EDA9-0A09-2DA00657249A}"/>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94E56597-F07E-D2C5-926D-4C7455A6769F}"/>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0321DCF4-326D-E32C-130B-770B60C85F93}"/>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6C0429DD-E713-94CF-11FF-1DC73B3A227B}"/>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32FD0B0B-3248-34FD-91B5-F5773D343FC9}"/>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CA9E92F3-4275-2BED-03B5-26A6F596D2DE}"/>
                </a:ext>
              </a:extLst>
            </p:cNvPr>
            <p:cNvPicPr/>
            <p:nvPr/>
          </p:nvPicPr>
          <p:blipFill>
            <a:blip r:embed="rId5" cstate="print"/>
            <a:stretch>
              <a:fillRect/>
            </a:stretch>
          </p:blipFill>
          <p:spPr>
            <a:xfrm>
              <a:off x="12103836" y="390676"/>
              <a:ext cx="5725954" cy="1209972"/>
            </a:xfrm>
            <a:prstGeom prst="rect">
              <a:avLst/>
            </a:prstGeom>
          </p:spPr>
        </p:pic>
      </p:grpSp>
      <p:sp>
        <p:nvSpPr>
          <p:cNvPr id="18" name="Title 17">
            <a:extLst>
              <a:ext uri="{FF2B5EF4-FFF2-40B4-BE49-F238E27FC236}">
                <a16:creationId xmlns:a16="http://schemas.microsoft.com/office/drawing/2014/main" id="{7DA46E3A-20E2-1BA9-0F71-CE5BA251A237}"/>
              </a:ext>
            </a:extLst>
          </p:cNvPr>
          <p:cNvSpPr>
            <a:spLocks noGrp="1"/>
          </p:cNvSpPr>
          <p:nvPr>
            <p:ph type="title"/>
          </p:nvPr>
        </p:nvSpPr>
        <p:spPr>
          <a:xfrm>
            <a:off x="184610" y="423779"/>
            <a:ext cx="12420600" cy="2462213"/>
          </a:xfrm>
        </p:spPr>
        <p:txBody>
          <a:bodyPr/>
          <a:lstStyle/>
          <a:p>
            <a:r>
              <a:rPr lang="en-GB" dirty="0"/>
              <a:t>SALES OVER A PEROID</a:t>
            </a:r>
            <a:endParaRPr lang="en-AS" dirty="0"/>
          </a:p>
        </p:txBody>
      </p:sp>
      <p:sp>
        <p:nvSpPr>
          <p:cNvPr id="20" name="Text Placeholder 19">
            <a:extLst>
              <a:ext uri="{FF2B5EF4-FFF2-40B4-BE49-F238E27FC236}">
                <a16:creationId xmlns:a16="http://schemas.microsoft.com/office/drawing/2014/main" id="{73D6962E-42F5-77FC-D8D2-432DA92323D3}"/>
              </a:ext>
            </a:extLst>
          </p:cNvPr>
          <p:cNvSpPr>
            <a:spLocks noGrp="1"/>
          </p:cNvSpPr>
          <p:nvPr>
            <p:ph type="body" idx="1"/>
          </p:nvPr>
        </p:nvSpPr>
        <p:spPr/>
        <p:txBody>
          <a:bodyPr/>
          <a:lstStyle/>
          <a:p>
            <a:endParaRPr lang="en-AS"/>
          </a:p>
        </p:txBody>
      </p:sp>
      <p:graphicFrame>
        <p:nvGraphicFramePr>
          <p:cNvPr id="3" name="Table 2">
            <a:extLst>
              <a:ext uri="{FF2B5EF4-FFF2-40B4-BE49-F238E27FC236}">
                <a16:creationId xmlns:a16="http://schemas.microsoft.com/office/drawing/2014/main" id="{74516C11-39A2-825E-1409-BAACB82704A7}"/>
              </a:ext>
            </a:extLst>
          </p:cNvPr>
          <p:cNvGraphicFramePr>
            <a:graphicFrameLocks noGrp="1"/>
          </p:cNvGraphicFramePr>
          <p:nvPr>
            <p:extLst>
              <p:ext uri="{D42A27DB-BD31-4B8C-83A1-F6EECF244321}">
                <p14:modId xmlns:p14="http://schemas.microsoft.com/office/powerpoint/2010/main" val="1626820104"/>
              </p:ext>
            </p:extLst>
          </p:nvPr>
        </p:nvGraphicFramePr>
        <p:xfrm>
          <a:off x="762000" y="2854558"/>
          <a:ext cx="8686800" cy="5565540"/>
        </p:xfrm>
        <a:graphic>
          <a:graphicData uri="http://schemas.openxmlformats.org/drawingml/2006/table">
            <a:tbl>
              <a:tblPr>
                <a:tableStyleId>{5C22544A-7EE6-4342-B048-85BDC9FD1C3A}</a:tableStyleId>
              </a:tblPr>
              <a:tblGrid>
                <a:gridCol w="5363981">
                  <a:extLst>
                    <a:ext uri="{9D8B030D-6E8A-4147-A177-3AD203B41FA5}">
                      <a16:colId xmlns:a16="http://schemas.microsoft.com/office/drawing/2014/main" val="1039497082"/>
                    </a:ext>
                  </a:extLst>
                </a:gridCol>
                <a:gridCol w="3322819">
                  <a:extLst>
                    <a:ext uri="{9D8B030D-6E8A-4147-A177-3AD203B41FA5}">
                      <a16:colId xmlns:a16="http://schemas.microsoft.com/office/drawing/2014/main" val="4156047565"/>
                    </a:ext>
                  </a:extLst>
                </a:gridCol>
              </a:tblGrid>
              <a:tr h="927590">
                <a:tc>
                  <a:txBody>
                    <a:bodyPr/>
                    <a:lstStyle/>
                    <a:p>
                      <a:pPr algn="l" fontAlgn="b"/>
                      <a:r>
                        <a:rPr lang="en-GB" sz="3600" u="none" strike="noStrike" dirty="0">
                          <a:solidFill>
                            <a:schemeClr val="bg1"/>
                          </a:solidFill>
                          <a:effectLst/>
                          <a:latin typeface="Illuma Black" panose="00000A00000000000000" pitchFamily="2" charset="0"/>
                        </a:rPr>
                        <a:t>YEAR</a:t>
                      </a:r>
                      <a:endParaRPr lang="en-GB"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GB" sz="3600" u="none" strike="noStrike">
                          <a:solidFill>
                            <a:schemeClr val="bg1"/>
                          </a:solidFill>
                          <a:effectLst/>
                          <a:latin typeface="Illuma Black" panose="00000A00000000000000" pitchFamily="2" charset="0"/>
                        </a:rPr>
                        <a:t>Sum of Sales</a:t>
                      </a:r>
                      <a:endParaRPr lang="en-GB" sz="3600" b="1"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815712616"/>
                  </a:ext>
                </a:extLst>
              </a:tr>
              <a:tr h="927590">
                <a:tc>
                  <a:txBody>
                    <a:bodyPr/>
                    <a:lstStyle/>
                    <a:p>
                      <a:pPr algn="l" fontAlgn="b"/>
                      <a:r>
                        <a:rPr lang="en-AS" sz="3600" u="none" strike="noStrike" dirty="0">
                          <a:solidFill>
                            <a:srgbClr val="FF0000"/>
                          </a:solidFill>
                          <a:effectLst/>
                          <a:latin typeface="Illuma Black" panose="00000A00000000000000" pitchFamily="2" charset="0"/>
                        </a:rPr>
                        <a:t>2014</a:t>
                      </a:r>
                      <a:endParaRPr lang="en-AS" sz="3600" b="1"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rgbClr val="FF0000"/>
                          </a:solidFill>
                          <a:effectLst/>
                          <a:latin typeface="Illuma Black" panose="00000A00000000000000" pitchFamily="2" charset="0"/>
                        </a:rPr>
                        <a:t>484247.4981</a:t>
                      </a:r>
                      <a:endParaRPr lang="en-AS" sz="3600" b="1" i="0" u="none" strike="noStrike" dirty="0">
                        <a:solidFill>
                          <a:srgbClr val="FF000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3631606373"/>
                  </a:ext>
                </a:extLst>
              </a:tr>
              <a:tr h="927590">
                <a:tc>
                  <a:txBody>
                    <a:bodyPr/>
                    <a:lstStyle/>
                    <a:p>
                      <a:pPr algn="l" fontAlgn="b"/>
                      <a:r>
                        <a:rPr lang="en-AS" sz="3600" u="none" strike="noStrike" dirty="0">
                          <a:solidFill>
                            <a:schemeClr val="bg1"/>
                          </a:solidFill>
                          <a:effectLst/>
                          <a:latin typeface="Illuma Black" panose="00000A00000000000000" pitchFamily="2" charset="0"/>
                        </a:rPr>
                        <a:t>2015</a:t>
                      </a:r>
                      <a:endParaRPr lang="en-AS"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470532.509</a:t>
                      </a:r>
                      <a:endParaRPr lang="en-AS"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311985909"/>
                  </a:ext>
                </a:extLst>
              </a:tr>
              <a:tr h="927590">
                <a:tc>
                  <a:txBody>
                    <a:bodyPr/>
                    <a:lstStyle/>
                    <a:p>
                      <a:pPr algn="l" fontAlgn="b"/>
                      <a:r>
                        <a:rPr lang="en-AS" sz="3600" u="none" strike="noStrike">
                          <a:solidFill>
                            <a:schemeClr val="bg1"/>
                          </a:solidFill>
                          <a:effectLst/>
                          <a:latin typeface="Illuma Black" panose="00000A00000000000000" pitchFamily="2" charset="0"/>
                        </a:rPr>
                        <a:t>2016</a:t>
                      </a:r>
                      <a:endParaRPr lang="en-AS" sz="3600" b="1"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609205.598</a:t>
                      </a:r>
                      <a:endParaRPr lang="en-AS"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1712336078"/>
                  </a:ext>
                </a:extLst>
              </a:tr>
              <a:tr h="927590">
                <a:tc>
                  <a:txBody>
                    <a:bodyPr/>
                    <a:lstStyle/>
                    <a:p>
                      <a:pPr algn="l" fontAlgn="b"/>
                      <a:r>
                        <a:rPr lang="en-AS" sz="3600" u="none" strike="noStrike">
                          <a:solidFill>
                            <a:srgbClr val="00B050"/>
                          </a:solidFill>
                          <a:effectLst/>
                          <a:latin typeface="Illuma Black" panose="00000A00000000000000" pitchFamily="2" charset="0"/>
                        </a:rPr>
                        <a:t>2017</a:t>
                      </a:r>
                      <a:endParaRPr lang="en-AS" sz="3600" b="1" i="0" u="none" strike="noStrike">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rgbClr val="00B050"/>
                          </a:solidFill>
                          <a:effectLst/>
                          <a:latin typeface="Illuma Black" panose="00000A00000000000000" pitchFamily="2" charset="0"/>
                        </a:rPr>
                        <a:t>733215.2552</a:t>
                      </a:r>
                      <a:endParaRPr lang="en-AS" sz="3600" b="1" i="0" u="none" strike="noStrike" dirty="0">
                        <a:solidFill>
                          <a:srgbClr val="00B050"/>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3184021256"/>
                  </a:ext>
                </a:extLst>
              </a:tr>
              <a:tr h="927590">
                <a:tc>
                  <a:txBody>
                    <a:bodyPr/>
                    <a:lstStyle/>
                    <a:p>
                      <a:pPr algn="l" fontAlgn="b"/>
                      <a:r>
                        <a:rPr lang="en-GB" sz="3600" u="none" strike="noStrike">
                          <a:solidFill>
                            <a:schemeClr val="bg1"/>
                          </a:solidFill>
                          <a:effectLst/>
                          <a:latin typeface="Illuma Black" panose="00000A00000000000000" pitchFamily="2" charset="0"/>
                        </a:rPr>
                        <a:t>Grand Total</a:t>
                      </a:r>
                      <a:endParaRPr lang="en-GB" sz="3600" b="1" i="0" u="none" strike="noStrike">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tc>
                  <a:txBody>
                    <a:bodyPr/>
                    <a:lstStyle/>
                    <a:p>
                      <a:pPr algn="l" fontAlgn="b"/>
                      <a:r>
                        <a:rPr lang="en-AS" sz="3600" u="none" strike="noStrike" dirty="0">
                          <a:solidFill>
                            <a:schemeClr val="bg1"/>
                          </a:solidFill>
                          <a:effectLst/>
                          <a:latin typeface="Illuma Black" panose="00000A00000000000000" pitchFamily="2" charset="0"/>
                        </a:rPr>
                        <a:t>2297200.86</a:t>
                      </a:r>
                      <a:endParaRPr lang="en-AS" sz="3600" b="1" i="0" u="none" strike="noStrike" dirty="0">
                        <a:solidFill>
                          <a:schemeClr val="bg1"/>
                        </a:solidFill>
                        <a:effectLst/>
                        <a:latin typeface="Illuma Black" panose="00000A00000000000000" pitchFamily="2" charset="0"/>
                      </a:endParaRPr>
                    </a:p>
                  </a:txBody>
                  <a:tcPr marL="9525" marR="9525" marT="9525" marB="0" anchor="b">
                    <a:gradFill>
                      <a:gsLst>
                        <a:gs pos="11000">
                          <a:schemeClr val="tx2">
                            <a:lumMod val="50000"/>
                          </a:schemeClr>
                        </a:gs>
                        <a:gs pos="100000">
                          <a:schemeClr val="tx2">
                            <a:lumMod val="50000"/>
                          </a:schemeClr>
                        </a:gs>
                      </a:gsLst>
                      <a:lin ang="5400000" scaled="1"/>
                    </a:gradFill>
                  </a:tcPr>
                </a:tc>
                <a:extLst>
                  <a:ext uri="{0D108BD9-81ED-4DB2-BD59-A6C34878D82A}">
                    <a16:rowId xmlns:a16="http://schemas.microsoft.com/office/drawing/2014/main" val="4146006257"/>
                  </a:ext>
                </a:extLst>
              </a:tr>
            </a:tbl>
          </a:graphicData>
        </a:graphic>
      </p:graphicFrame>
      <p:graphicFrame>
        <p:nvGraphicFramePr>
          <p:cNvPr id="4" name="Chart 3">
            <a:extLst>
              <a:ext uri="{FF2B5EF4-FFF2-40B4-BE49-F238E27FC236}">
                <a16:creationId xmlns:a16="http://schemas.microsoft.com/office/drawing/2014/main" id="{13F0C9B0-DA7C-0DB0-4966-CEA4686F9010}"/>
              </a:ext>
            </a:extLst>
          </p:cNvPr>
          <p:cNvGraphicFramePr>
            <a:graphicFrameLocks/>
          </p:cNvGraphicFramePr>
          <p:nvPr>
            <p:extLst>
              <p:ext uri="{D42A27DB-BD31-4B8C-83A1-F6EECF244321}">
                <p14:modId xmlns:p14="http://schemas.microsoft.com/office/powerpoint/2010/main" val="2291536803"/>
              </p:ext>
            </p:extLst>
          </p:nvPr>
        </p:nvGraphicFramePr>
        <p:xfrm>
          <a:off x="10250876" y="2625960"/>
          <a:ext cx="7852514" cy="579413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8773669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right)">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4F061-9CBA-31EB-992E-16F48B71048E}"/>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DC09D0B2-28DE-47DF-2A98-288F8F14289B}"/>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C4137003-33DB-F33D-009F-0454F4E42FF7}"/>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CC21E0D2-69EB-170F-03FC-BF6BECB339DD}"/>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DBACE06D-370C-16A5-014F-C711E9532735}"/>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93A0BC09-1137-E7EA-0FE4-2079D851D41A}"/>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89EDA34E-5C46-0F5A-9EEE-4C9B704E41A8}"/>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7A5D9B0C-5DF6-3CE1-9001-F5A12FB53E5D}"/>
              </a:ext>
            </a:extLst>
          </p:cNvPr>
          <p:cNvSpPr txBox="1">
            <a:spLocks noGrp="1"/>
          </p:cNvSpPr>
          <p:nvPr>
            <p:ph type="title"/>
          </p:nvPr>
        </p:nvSpPr>
        <p:spPr>
          <a:xfrm>
            <a:off x="685800" y="390676"/>
            <a:ext cx="11418036" cy="1077218"/>
          </a:xfrm>
          <a:prstGeom prst="rect">
            <a:avLst/>
          </a:prstGeom>
        </p:spPr>
        <p:txBody>
          <a:bodyPr vert="horz" wrap="square" lIns="0" tIns="12700" rIns="0" bIns="0" rtlCol="0">
            <a:spAutoFit/>
          </a:bodyPr>
          <a:lstStyle/>
          <a:p>
            <a:pPr marL="12700">
              <a:lnSpc>
                <a:spcPts val="8325"/>
              </a:lnSpc>
              <a:spcBef>
                <a:spcPts val="100"/>
              </a:spcBef>
            </a:pPr>
            <a:r>
              <a:rPr lang="en-GB" dirty="0"/>
              <a:t>Dashboard Overview </a:t>
            </a:r>
            <a:endParaRPr spc="-1095" dirty="0"/>
          </a:p>
        </p:txBody>
      </p:sp>
      <p:sp>
        <p:nvSpPr>
          <p:cNvPr id="14" name="object 14">
            <a:extLst>
              <a:ext uri="{FF2B5EF4-FFF2-40B4-BE49-F238E27FC236}">
                <a16:creationId xmlns:a16="http://schemas.microsoft.com/office/drawing/2014/main" id="{24098DD4-1592-0C23-214D-473A38DB8685}"/>
              </a:ext>
            </a:extLst>
          </p:cNvPr>
          <p:cNvSpPr txBox="1">
            <a:spLocks noGrp="1"/>
          </p:cNvSpPr>
          <p:nvPr>
            <p:ph type="body" idx="1"/>
          </p:nvPr>
        </p:nvSpPr>
        <p:spPr>
          <a:xfrm>
            <a:off x="914400" y="1717081"/>
            <a:ext cx="13030200" cy="6852838"/>
          </a:xfrm>
          <a:prstGeom prst="rect">
            <a:avLst/>
          </a:prstGeom>
        </p:spPr>
        <p:txBody>
          <a:bodyPr vert="horz" wrap="square" lIns="0" tIns="12065" rIns="0" bIns="0" rtlCol="0">
            <a:spAutoFit/>
          </a:bodyPr>
          <a:lstStyle/>
          <a:p>
            <a:pPr marL="469900" marR="5080" indent="-457200" algn="just">
              <a:lnSpc>
                <a:spcPct val="106300"/>
              </a:lnSpc>
              <a:spcBef>
                <a:spcPts val="95"/>
              </a:spcBef>
              <a:buFont typeface="Wingdings" panose="05000000000000000000" pitchFamily="2" charset="2"/>
              <a:buChar char="ü"/>
            </a:pPr>
            <a:r>
              <a:rPr lang="en-GB" sz="3200" dirty="0">
                <a:latin typeface="Illuma Black" panose="00000A00000000000000" pitchFamily="2" charset="0"/>
              </a:rPr>
              <a:t>The sales dashboard is an interactive summary tool designed to display key metrics and trends in a clear, visual format. </a:t>
            </a:r>
          </a:p>
          <a:p>
            <a:pPr marL="469900" marR="5080" indent="-457200" algn="just">
              <a:lnSpc>
                <a:spcPct val="106300"/>
              </a:lnSpc>
              <a:spcBef>
                <a:spcPts val="95"/>
              </a:spcBef>
              <a:buFont typeface="Wingdings" panose="05000000000000000000" pitchFamily="2" charset="2"/>
              <a:buChar char="ü"/>
            </a:pPr>
            <a:r>
              <a:rPr lang="en-GB" sz="3200" dirty="0">
                <a:latin typeface="Illuma Black" panose="00000A00000000000000" pitchFamily="2" charset="0"/>
              </a:rPr>
              <a:t>It includes KPI’S:</a:t>
            </a:r>
          </a:p>
          <a:p>
            <a:pPr marL="469900" marR="5080" indent="-457200" algn="just">
              <a:lnSpc>
                <a:spcPct val="106300"/>
              </a:lnSpc>
              <a:spcBef>
                <a:spcPts val="95"/>
              </a:spcBef>
              <a:buFont typeface="Wingdings" panose="05000000000000000000" pitchFamily="2" charset="2"/>
              <a:buChar char="ü"/>
            </a:pPr>
            <a:r>
              <a:rPr lang="en-GB" sz="3200" dirty="0">
                <a:latin typeface="Illuma Black" panose="00000A00000000000000" pitchFamily="2" charset="0"/>
              </a:rPr>
              <a:t> </a:t>
            </a:r>
            <a:r>
              <a:rPr lang="en-GB" sz="3200" b="1" dirty="0">
                <a:latin typeface="Illuma Black" panose="00000A00000000000000" pitchFamily="2" charset="0"/>
              </a:rPr>
              <a:t>Total Sales -</a:t>
            </a:r>
            <a:r>
              <a:rPr lang="en-GB" sz="3200" b="1" dirty="0">
                <a:latin typeface="Arial" panose="020B0604020202020204" pitchFamily="34" charset="0"/>
              </a:rPr>
              <a:t>2</a:t>
            </a:r>
            <a:r>
              <a:rPr lang="en-AS" sz="3200" b="0" i="0" u="none" strike="noStrike" dirty="0">
                <a:effectLst/>
                <a:latin typeface="Illuma Black" panose="00000A00000000000000" pitchFamily="2" charset="0"/>
              </a:rPr>
              <a:t>297200.86</a:t>
            </a:r>
            <a:r>
              <a:rPr lang="en-AS" sz="3200" dirty="0">
                <a:latin typeface="Illuma Black" panose="00000A00000000000000" pitchFamily="2" charset="0"/>
              </a:rPr>
              <a:t> </a:t>
            </a:r>
            <a:endParaRPr lang="en-GB" sz="3200" dirty="0">
              <a:latin typeface="Illuma Black" panose="00000A00000000000000" pitchFamily="2" charset="0"/>
            </a:endParaRPr>
          </a:p>
          <a:p>
            <a:pPr marL="469900" marR="5080" indent="-457200" algn="just">
              <a:lnSpc>
                <a:spcPct val="106300"/>
              </a:lnSpc>
              <a:spcBef>
                <a:spcPts val="95"/>
              </a:spcBef>
              <a:buFont typeface="Wingdings" panose="05000000000000000000" pitchFamily="2" charset="2"/>
              <a:buChar char="ü"/>
            </a:pPr>
            <a:r>
              <a:rPr lang="en-GB" sz="3200" b="1" dirty="0">
                <a:latin typeface="Illuma Black" panose="00000A00000000000000" pitchFamily="2" charset="0"/>
              </a:rPr>
              <a:t>Average Order - </a:t>
            </a:r>
            <a:r>
              <a:rPr lang="en-AS" sz="3200" b="0" i="0" u="none" strike="noStrike" dirty="0">
                <a:effectLst/>
                <a:latin typeface="Illuma Black" panose="00000A00000000000000" pitchFamily="2" charset="0"/>
              </a:rPr>
              <a:t>1974618.726</a:t>
            </a:r>
            <a:r>
              <a:rPr lang="en-AS" sz="3200" dirty="0">
                <a:latin typeface="Illuma Black" panose="00000A00000000000000" pitchFamily="2" charset="0"/>
              </a:rPr>
              <a:t> </a:t>
            </a:r>
            <a:endParaRPr lang="en-GB" sz="3200" dirty="0">
              <a:latin typeface="Illuma Black" panose="00000A00000000000000" pitchFamily="2" charset="0"/>
            </a:endParaRPr>
          </a:p>
          <a:p>
            <a:pPr marL="469900" marR="5080" indent="-457200" algn="just">
              <a:lnSpc>
                <a:spcPct val="106300"/>
              </a:lnSpc>
              <a:spcBef>
                <a:spcPts val="95"/>
              </a:spcBef>
              <a:buFont typeface="Wingdings" panose="05000000000000000000" pitchFamily="2" charset="2"/>
              <a:buChar char="ü"/>
            </a:pPr>
            <a:r>
              <a:rPr lang="en-GB" sz="3200" dirty="0">
                <a:latin typeface="Illuma Black" panose="00000A00000000000000" pitchFamily="2" charset="0"/>
              </a:rPr>
              <a:t> </a:t>
            </a:r>
            <a:r>
              <a:rPr lang="en-GB" sz="3200" b="1" dirty="0">
                <a:latin typeface="Illuma Black" panose="00000A00000000000000" pitchFamily="2" charset="0"/>
              </a:rPr>
              <a:t>Total Discounts - </a:t>
            </a:r>
            <a:r>
              <a:rPr lang="en-AS" sz="3200" b="0" i="0" u="none" strike="noStrike" dirty="0">
                <a:effectLst/>
                <a:latin typeface="Illuma Black" panose="00000A00000000000000" pitchFamily="2" charset="0"/>
              </a:rPr>
              <a:t>1561.09</a:t>
            </a:r>
            <a:r>
              <a:rPr lang="en-AS" sz="3200" dirty="0">
                <a:latin typeface="Illuma Black" panose="00000A00000000000000" pitchFamily="2" charset="0"/>
              </a:rPr>
              <a:t> </a:t>
            </a:r>
            <a:endParaRPr lang="en-GB" sz="3200" dirty="0">
              <a:latin typeface="Illuma Black" panose="00000A00000000000000" pitchFamily="2" charset="0"/>
            </a:endParaRPr>
          </a:p>
          <a:p>
            <a:pPr marL="469900" marR="5080" indent="-457200" algn="just">
              <a:lnSpc>
                <a:spcPct val="106300"/>
              </a:lnSpc>
              <a:spcBef>
                <a:spcPts val="95"/>
              </a:spcBef>
              <a:buFont typeface="Wingdings" panose="05000000000000000000" pitchFamily="2" charset="2"/>
              <a:buChar char="ü"/>
            </a:pPr>
            <a:r>
              <a:rPr lang="en-GB" sz="3200" b="1" dirty="0">
                <a:latin typeface="Illuma Black" panose="00000A00000000000000" pitchFamily="2" charset="0"/>
              </a:rPr>
              <a:t>Top-Performing Products - TECHNOLOGY</a:t>
            </a:r>
          </a:p>
          <a:p>
            <a:pPr marL="469900" marR="5080" indent="-457200" algn="just">
              <a:lnSpc>
                <a:spcPct val="106300"/>
              </a:lnSpc>
              <a:spcBef>
                <a:spcPts val="95"/>
              </a:spcBef>
              <a:buFont typeface="Wingdings" panose="05000000000000000000" pitchFamily="2" charset="2"/>
              <a:buChar char="ü"/>
            </a:pPr>
            <a:r>
              <a:rPr lang="en-GB" sz="3200" dirty="0">
                <a:latin typeface="Illuma Black" panose="00000A00000000000000" pitchFamily="2" charset="0"/>
              </a:rPr>
              <a:t>The dashboard uses Pivot Charts (bar and line charts), and interactive </a:t>
            </a:r>
            <a:r>
              <a:rPr lang="en-GB" sz="3200" b="1" dirty="0">
                <a:latin typeface="Illuma Black" panose="00000A00000000000000" pitchFamily="2" charset="0"/>
              </a:rPr>
              <a:t>Slicers</a:t>
            </a:r>
            <a:r>
              <a:rPr lang="en-GB" sz="3200" dirty="0">
                <a:latin typeface="Illuma Black" panose="00000A00000000000000" pitchFamily="2" charset="0"/>
              </a:rPr>
              <a:t> for filtering by </a:t>
            </a:r>
            <a:r>
              <a:rPr lang="en-GB" sz="3200" b="1" dirty="0">
                <a:latin typeface="Illuma Black" panose="00000A00000000000000" pitchFamily="2" charset="0"/>
              </a:rPr>
              <a:t>Product Category</a:t>
            </a:r>
            <a:r>
              <a:rPr lang="en-GB" sz="3200" dirty="0">
                <a:latin typeface="Illuma Black" panose="00000A00000000000000" pitchFamily="2" charset="0"/>
              </a:rPr>
              <a:t>, </a:t>
            </a:r>
            <a:r>
              <a:rPr lang="en-GB" sz="3200" b="1" dirty="0">
                <a:latin typeface="Illuma Black" panose="00000A00000000000000" pitchFamily="2" charset="0"/>
              </a:rPr>
              <a:t>Ship Mode</a:t>
            </a:r>
            <a:r>
              <a:rPr lang="en-GB" sz="3200" dirty="0">
                <a:latin typeface="Illuma Black" panose="00000A00000000000000" pitchFamily="2" charset="0"/>
              </a:rPr>
              <a:t>, and </a:t>
            </a:r>
            <a:r>
              <a:rPr lang="en-GB" sz="3200" b="1" dirty="0">
                <a:latin typeface="Illuma Black" panose="00000A00000000000000" pitchFamily="2" charset="0"/>
              </a:rPr>
              <a:t>Customer Segment</a:t>
            </a:r>
            <a:r>
              <a:rPr lang="en-GB" sz="3200" dirty="0">
                <a:latin typeface="Illuma Black" panose="00000A00000000000000" pitchFamily="2" charset="0"/>
              </a:rPr>
              <a:t>. These components help users quickly analyse performance, identify trends, and make informed decisions by selecting filters and viewing updates in real-time, enhancing accessibility and engagement with the sales data.</a:t>
            </a:r>
            <a:endParaRPr sz="3200" spc="-10" dirty="0">
              <a:latin typeface="Illuma Black" panose="00000A00000000000000" pitchFamily="2" charset="0"/>
            </a:endParaRPr>
          </a:p>
        </p:txBody>
      </p:sp>
      <p:pic>
        <p:nvPicPr>
          <p:cNvPr id="22" name="Picture 21" descr="A close-up of a graph&#10;&#10;AI-generated content may be incorrect.">
            <a:extLst>
              <a:ext uri="{FF2B5EF4-FFF2-40B4-BE49-F238E27FC236}">
                <a16:creationId xmlns:a16="http://schemas.microsoft.com/office/drawing/2014/main" id="{8969ADF5-3B5E-424D-1453-B27445537B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46820" y="2781300"/>
            <a:ext cx="3257550" cy="3352800"/>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136615877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arn(inVertic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arn(inVertic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arn(inVertical)">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barn(inVertical)">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barn(inVertical)">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barn(inVertical)">
                                      <p:cBhvr>
                                        <p:cTn id="32" dur="500"/>
                                        <p:tgtEl>
                                          <p:spTgt spid="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animEffect transition="in" filter="barn(inVertical)">
                                      <p:cBhvr>
                                        <p:cTn id="37" dur="500"/>
                                        <p:tgtEl>
                                          <p:spTgt spid="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ppt_x"/>
                                          </p:val>
                                        </p:tav>
                                        <p:tav tm="100000">
                                          <p:val>
                                            <p:strVal val="#ppt_x"/>
                                          </p:val>
                                        </p:tav>
                                      </p:tavLst>
                                    </p:anim>
                                    <p:anim calcmode="lin" valueType="num">
                                      <p:cBhvr additive="base">
                                        <p:cTn id="4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p:cTn id="48" dur="1000" fill="hold"/>
                                        <p:tgtEl>
                                          <p:spTgt spid="22"/>
                                        </p:tgtEl>
                                        <p:attrNameLst>
                                          <p:attrName>ppt_w</p:attrName>
                                        </p:attrNameLst>
                                      </p:cBhvr>
                                      <p:tavLst>
                                        <p:tav tm="0">
                                          <p:val>
                                            <p:fltVal val="0"/>
                                          </p:val>
                                        </p:tav>
                                        <p:tav tm="100000">
                                          <p:val>
                                            <p:strVal val="#ppt_w"/>
                                          </p:val>
                                        </p:tav>
                                      </p:tavLst>
                                    </p:anim>
                                    <p:anim calcmode="lin" valueType="num">
                                      <p:cBhvr>
                                        <p:cTn id="49" dur="1000" fill="hold"/>
                                        <p:tgtEl>
                                          <p:spTgt spid="22"/>
                                        </p:tgtEl>
                                        <p:attrNameLst>
                                          <p:attrName>ppt_h</p:attrName>
                                        </p:attrNameLst>
                                      </p:cBhvr>
                                      <p:tavLst>
                                        <p:tav tm="0">
                                          <p:val>
                                            <p:fltVal val="0"/>
                                          </p:val>
                                        </p:tav>
                                        <p:tav tm="100000">
                                          <p:val>
                                            <p:strVal val="#ppt_h"/>
                                          </p:val>
                                        </p:tav>
                                      </p:tavLst>
                                    </p:anim>
                                    <p:anim calcmode="lin" valueType="num">
                                      <p:cBhvr>
                                        <p:cTn id="50" dur="1000" fill="hold"/>
                                        <p:tgtEl>
                                          <p:spTgt spid="22"/>
                                        </p:tgtEl>
                                        <p:attrNameLst>
                                          <p:attrName>style.rotation</p:attrName>
                                        </p:attrNameLst>
                                      </p:cBhvr>
                                      <p:tavLst>
                                        <p:tav tm="0">
                                          <p:val>
                                            <p:fltVal val="90"/>
                                          </p:val>
                                        </p:tav>
                                        <p:tav tm="100000">
                                          <p:val>
                                            <p:fltVal val="0"/>
                                          </p:val>
                                        </p:tav>
                                      </p:tavLst>
                                    </p:anim>
                                    <p:animEffect transition="in" filter="fade">
                                      <p:cBhvr>
                                        <p:cTn id="5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12E36-D846-2BA9-E9D6-3300965357E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2EED16-8D28-2359-7BBA-7E792D86BBD7}"/>
              </a:ext>
            </a:extLst>
          </p:cNvPr>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a:p>
        </p:txBody>
      </p:sp>
      <p:grpSp>
        <p:nvGrpSpPr>
          <p:cNvPr id="7" name="object 7">
            <a:extLst>
              <a:ext uri="{FF2B5EF4-FFF2-40B4-BE49-F238E27FC236}">
                <a16:creationId xmlns:a16="http://schemas.microsoft.com/office/drawing/2014/main" id="{95008810-879D-9110-BB5C-37F031A5060E}"/>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CFB227FC-A19B-49FD-1560-9F03BE6CF92D}"/>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3961F923-B364-FFEA-8937-5BF9CE02A026}"/>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B5446907-C1AB-294A-FB51-21B8EA676B20}"/>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9FEB6B8D-A876-2DB6-1CAF-CD0B29C9F6E7}"/>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244D2F91-5911-17E5-AAA5-2AAAAD2E06A9}"/>
                </a:ext>
              </a:extLst>
            </p:cNvPr>
            <p:cNvPicPr/>
            <p:nvPr/>
          </p:nvPicPr>
          <p:blipFill>
            <a:blip r:embed="rId5" cstate="print"/>
            <a:stretch>
              <a:fillRect/>
            </a:stretch>
          </p:blipFill>
          <p:spPr>
            <a:xfrm>
              <a:off x="12103836" y="390676"/>
              <a:ext cx="5725954" cy="1209972"/>
            </a:xfrm>
            <a:prstGeom prst="rect">
              <a:avLst/>
            </a:prstGeom>
          </p:spPr>
        </p:pic>
      </p:grpSp>
      <p:sp>
        <p:nvSpPr>
          <p:cNvPr id="18" name="Title 17">
            <a:extLst>
              <a:ext uri="{FF2B5EF4-FFF2-40B4-BE49-F238E27FC236}">
                <a16:creationId xmlns:a16="http://schemas.microsoft.com/office/drawing/2014/main" id="{2DE19300-87D0-2239-BEA5-EFE28747A0B8}"/>
              </a:ext>
            </a:extLst>
          </p:cNvPr>
          <p:cNvSpPr>
            <a:spLocks noGrp="1"/>
          </p:cNvSpPr>
          <p:nvPr>
            <p:ph type="title"/>
          </p:nvPr>
        </p:nvSpPr>
        <p:spPr/>
        <p:txBody>
          <a:bodyPr/>
          <a:lstStyle/>
          <a:p>
            <a:endParaRPr lang="en-AS"/>
          </a:p>
        </p:txBody>
      </p:sp>
      <p:sp>
        <p:nvSpPr>
          <p:cNvPr id="20" name="Text Placeholder 19">
            <a:extLst>
              <a:ext uri="{FF2B5EF4-FFF2-40B4-BE49-F238E27FC236}">
                <a16:creationId xmlns:a16="http://schemas.microsoft.com/office/drawing/2014/main" id="{CEB75A44-60DE-A6AE-A12B-D73FE4A98AF1}"/>
              </a:ext>
            </a:extLst>
          </p:cNvPr>
          <p:cNvSpPr>
            <a:spLocks noGrp="1"/>
          </p:cNvSpPr>
          <p:nvPr>
            <p:ph type="body" idx="1"/>
          </p:nvPr>
        </p:nvSpPr>
        <p:spPr/>
        <p:txBody>
          <a:bodyPr/>
          <a:lstStyle/>
          <a:p>
            <a:endParaRPr lang="en-AS" dirty="0"/>
          </a:p>
        </p:txBody>
      </p:sp>
      <p:pic>
        <p:nvPicPr>
          <p:cNvPr id="15" name="Picture 14">
            <a:extLst>
              <a:ext uri="{FF2B5EF4-FFF2-40B4-BE49-F238E27FC236}">
                <a16:creationId xmlns:a16="http://schemas.microsoft.com/office/drawing/2014/main" id="{AE406B22-9A6E-50A8-5BE4-A6ED3EFD07E0}"/>
              </a:ext>
            </a:extLst>
          </p:cNvPr>
          <p:cNvPicPr>
            <a:picLocks noChangeAspect="1"/>
          </p:cNvPicPr>
          <p:nvPr/>
        </p:nvPicPr>
        <p:blipFill>
          <a:blip r:embed="rId6"/>
          <a:srcRect l="3147" t="31250" r="1391" b="14584"/>
          <a:stretch/>
        </p:blipFill>
        <p:spPr>
          <a:xfrm>
            <a:off x="26670" y="0"/>
            <a:ext cx="18288000" cy="10286999"/>
          </a:xfrm>
          <a:prstGeom prst="rect">
            <a:avLst/>
          </a:prstGeom>
        </p:spPr>
      </p:pic>
    </p:spTree>
    <p:extLst>
      <p:ext uri="{BB962C8B-B14F-4D97-AF65-F5344CB8AC3E}">
        <p14:creationId xmlns:p14="http://schemas.microsoft.com/office/powerpoint/2010/main" val="657983733"/>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80">
                                          <p:stCondLst>
                                            <p:cond delay="0"/>
                                          </p:stCondLst>
                                        </p:cTn>
                                        <p:tgtEl>
                                          <p:spTgt spid="15"/>
                                        </p:tgtEl>
                                      </p:cBhvr>
                                    </p:animEffect>
                                    <p:anim calcmode="lin" valueType="num">
                                      <p:cBhvr>
                                        <p:cTn id="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3" dur="26">
                                          <p:stCondLst>
                                            <p:cond delay="650"/>
                                          </p:stCondLst>
                                        </p:cTn>
                                        <p:tgtEl>
                                          <p:spTgt spid="15"/>
                                        </p:tgtEl>
                                      </p:cBhvr>
                                      <p:to x="100000" y="60000"/>
                                    </p:animScale>
                                    <p:animScale>
                                      <p:cBhvr>
                                        <p:cTn id="14" dur="166" decel="50000">
                                          <p:stCondLst>
                                            <p:cond delay="676"/>
                                          </p:stCondLst>
                                        </p:cTn>
                                        <p:tgtEl>
                                          <p:spTgt spid="15"/>
                                        </p:tgtEl>
                                      </p:cBhvr>
                                      <p:to x="100000" y="100000"/>
                                    </p:animScale>
                                    <p:animScale>
                                      <p:cBhvr>
                                        <p:cTn id="15" dur="26">
                                          <p:stCondLst>
                                            <p:cond delay="1312"/>
                                          </p:stCondLst>
                                        </p:cTn>
                                        <p:tgtEl>
                                          <p:spTgt spid="15"/>
                                        </p:tgtEl>
                                      </p:cBhvr>
                                      <p:to x="100000" y="80000"/>
                                    </p:animScale>
                                    <p:animScale>
                                      <p:cBhvr>
                                        <p:cTn id="16" dur="166" decel="50000">
                                          <p:stCondLst>
                                            <p:cond delay="1338"/>
                                          </p:stCondLst>
                                        </p:cTn>
                                        <p:tgtEl>
                                          <p:spTgt spid="15"/>
                                        </p:tgtEl>
                                      </p:cBhvr>
                                      <p:to x="100000" y="100000"/>
                                    </p:animScale>
                                    <p:animScale>
                                      <p:cBhvr>
                                        <p:cTn id="17" dur="26">
                                          <p:stCondLst>
                                            <p:cond delay="1642"/>
                                          </p:stCondLst>
                                        </p:cTn>
                                        <p:tgtEl>
                                          <p:spTgt spid="15"/>
                                        </p:tgtEl>
                                      </p:cBhvr>
                                      <p:to x="100000" y="90000"/>
                                    </p:animScale>
                                    <p:animScale>
                                      <p:cBhvr>
                                        <p:cTn id="18" dur="166" decel="50000">
                                          <p:stCondLst>
                                            <p:cond delay="1668"/>
                                          </p:stCondLst>
                                        </p:cTn>
                                        <p:tgtEl>
                                          <p:spTgt spid="15"/>
                                        </p:tgtEl>
                                      </p:cBhvr>
                                      <p:to x="100000" y="100000"/>
                                    </p:animScale>
                                    <p:animScale>
                                      <p:cBhvr>
                                        <p:cTn id="19" dur="26">
                                          <p:stCondLst>
                                            <p:cond delay="1808"/>
                                          </p:stCondLst>
                                        </p:cTn>
                                        <p:tgtEl>
                                          <p:spTgt spid="15"/>
                                        </p:tgtEl>
                                      </p:cBhvr>
                                      <p:to x="100000" y="95000"/>
                                    </p:animScale>
                                    <p:animScale>
                                      <p:cBhvr>
                                        <p:cTn id="20"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8F3FA-8166-5E80-0346-00D3B63005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A3EE14-D6DE-7447-2C13-47C6F31808A4}"/>
              </a:ext>
            </a:extLst>
          </p:cNvPr>
          <p:cNvSpPr/>
          <p:nvPr/>
        </p:nvSpPr>
        <p:spPr>
          <a:xfrm>
            <a:off x="-1"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001341"/>
          </a:solidFill>
        </p:spPr>
        <p:txBody>
          <a:bodyPr wrap="square" lIns="0" tIns="0" rIns="0" bIns="0" rtlCol="0"/>
          <a:lstStyle/>
          <a:p>
            <a:endParaRPr dirty="0"/>
          </a:p>
        </p:txBody>
      </p:sp>
      <p:grpSp>
        <p:nvGrpSpPr>
          <p:cNvPr id="7" name="object 7">
            <a:extLst>
              <a:ext uri="{FF2B5EF4-FFF2-40B4-BE49-F238E27FC236}">
                <a16:creationId xmlns:a16="http://schemas.microsoft.com/office/drawing/2014/main" id="{BFE27E34-A243-0F9E-09AD-65897A1EDC6B}"/>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0DC7F69D-9874-FF8B-6BE3-F07F624FFBAA}"/>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C28C2778-8EA0-5DD5-7819-C79321CD3C9F}"/>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DF25E1B1-86E3-B016-F5A1-93477A01260E}"/>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260F6F05-C038-D88E-2B64-C3B43FACAA0A}"/>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EDFEFF85-0C77-5C12-EA5C-DEE7EE1772D0}"/>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B82ADA0D-036D-C317-7F94-CD566CB6F62C}"/>
              </a:ext>
            </a:extLst>
          </p:cNvPr>
          <p:cNvSpPr txBox="1">
            <a:spLocks noGrp="1"/>
          </p:cNvSpPr>
          <p:nvPr>
            <p:ph type="title"/>
          </p:nvPr>
        </p:nvSpPr>
        <p:spPr>
          <a:xfrm>
            <a:off x="458210" y="390676"/>
            <a:ext cx="11160746" cy="1004442"/>
          </a:xfrm>
          <a:prstGeom prst="rect">
            <a:avLst/>
          </a:prstGeom>
        </p:spPr>
        <p:txBody>
          <a:bodyPr vert="horz" wrap="square" lIns="0" tIns="12700" rIns="0" bIns="0" rtlCol="0">
            <a:spAutoFit/>
          </a:bodyPr>
          <a:lstStyle/>
          <a:p>
            <a:pPr marL="12700">
              <a:lnSpc>
                <a:spcPts val="8325"/>
              </a:lnSpc>
              <a:spcBef>
                <a:spcPts val="100"/>
              </a:spcBef>
            </a:pPr>
            <a:r>
              <a:rPr lang="en-GB" sz="6000" dirty="0">
                <a:latin typeface="Arial Black" panose="020B0A04020102020204" pitchFamily="34" charset="0"/>
              </a:rPr>
              <a:t>What-If</a:t>
            </a:r>
            <a:r>
              <a:rPr lang="en-GB" sz="6000" dirty="0"/>
              <a:t> Analysis </a:t>
            </a:r>
            <a:endParaRPr sz="6000" spc="-1095" dirty="0"/>
          </a:p>
        </p:txBody>
      </p:sp>
      <p:sp>
        <p:nvSpPr>
          <p:cNvPr id="18" name="Text Placeholder 17">
            <a:extLst>
              <a:ext uri="{FF2B5EF4-FFF2-40B4-BE49-F238E27FC236}">
                <a16:creationId xmlns:a16="http://schemas.microsoft.com/office/drawing/2014/main" id="{83021C17-69DA-2D27-4787-7F900186E2BC}"/>
              </a:ext>
            </a:extLst>
          </p:cNvPr>
          <p:cNvSpPr>
            <a:spLocks noGrp="1"/>
          </p:cNvSpPr>
          <p:nvPr>
            <p:ph type="body" idx="1"/>
          </p:nvPr>
        </p:nvSpPr>
        <p:spPr>
          <a:xfrm>
            <a:off x="1214376" y="3145744"/>
            <a:ext cx="10404580" cy="2013554"/>
          </a:xfrm>
        </p:spPr>
        <p:txBody>
          <a:bodyPr/>
          <a:lstStyle/>
          <a:p>
            <a:endParaRPr lang="en-AS" dirty="0"/>
          </a:p>
        </p:txBody>
      </p:sp>
      <p:pic>
        <p:nvPicPr>
          <p:cNvPr id="4" name="Picture 3" descr="A screenshot of a graph">
            <a:extLst>
              <a:ext uri="{FF2B5EF4-FFF2-40B4-BE49-F238E27FC236}">
                <a16:creationId xmlns:a16="http://schemas.microsoft.com/office/drawing/2014/main" id="{92D801DD-C183-BD0F-283E-BA9B545FA0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5800" y="1895397"/>
            <a:ext cx="17143990" cy="3606095"/>
          </a:xfrm>
          <a:prstGeom prst="rect">
            <a:avLst/>
          </a:prstGeom>
        </p:spPr>
      </p:pic>
      <p:sp>
        <p:nvSpPr>
          <p:cNvPr id="5" name="Rectangle 4">
            <a:extLst>
              <a:ext uri="{FF2B5EF4-FFF2-40B4-BE49-F238E27FC236}">
                <a16:creationId xmlns:a16="http://schemas.microsoft.com/office/drawing/2014/main" id="{190EB555-A93A-7E5F-328E-4081EF97F7A8}"/>
              </a:ext>
            </a:extLst>
          </p:cNvPr>
          <p:cNvSpPr/>
          <p:nvPr/>
        </p:nvSpPr>
        <p:spPr>
          <a:xfrm>
            <a:off x="458210" y="5541867"/>
            <a:ext cx="7391400" cy="120997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GB" sz="6000" dirty="0">
                <a:solidFill>
                  <a:schemeClr val="bg1"/>
                </a:solidFill>
                <a:latin typeface="Arial Black" panose="020B0A04020102020204" pitchFamily="34" charset="0"/>
              </a:rPr>
              <a:t>Goal Seek</a:t>
            </a:r>
          </a:p>
        </p:txBody>
      </p:sp>
    </p:spTree>
    <p:extLst>
      <p:ext uri="{BB962C8B-B14F-4D97-AF65-F5344CB8AC3E}">
        <p14:creationId xmlns:p14="http://schemas.microsoft.com/office/powerpoint/2010/main" val="22215926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ppt_w</p:attrName>
                                        </p:attrNameLst>
                                      </p:cBhvr>
                                      <p:tavLst>
                                        <p:tav tm="0">
                                          <p:val>
                                            <p:fltVal val="0"/>
                                          </p:val>
                                        </p:tav>
                                        <p:tav tm="100000">
                                          <p:val>
                                            <p:strVal val="#ppt_w"/>
                                          </p:val>
                                        </p:tav>
                                      </p:tavLst>
                                    </p:anim>
                                    <p:anim calcmode="lin" valueType="num">
                                      <p:cBhvr>
                                        <p:cTn id="14" dur="1000" fill="hold"/>
                                        <p:tgtEl>
                                          <p:spTgt spid="4"/>
                                        </p:tgtEl>
                                        <p:attrNameLst>
                                          <p:attrName>ppt_h</p:attrName>
                                        </p:attrNameLst>
                                      </p:cBhvr>
                                      <p:tavLst>
                                        <p:tav tm="0">
                                          <p:val>
                                            <p:fltVal val="0"/>
                                          </p:val>
                                        </p:tav>
                                        <p:tav tm="100000">
                                          <p:val>
                                            <p:strVal val="#ppt_h"/>
                                          </p:val>
                                        </p:tav>
                                      </p:tavLst>
                                    </p:anim>
                                    <p:anim calcmode="lin" valueType="num">
                                      <p:cBhvr>
                                        <p:cTn id="15" dur="1000" fill="hold"/>
                                        <p:tgtEl>
                                          <p:spTgt spid="4"/>
                                        </p:tgtEl>
                                        <p:attrNameLst>
                                          <p:attrName>style.rotation</p:attrName>
                                        </p:attrNameLst>
                                      </p:cBhvr>
                                      <p:tavLst>
                                        <p:tav tm="0">
                                          <p:val>
                                            <p:fltVal val="90"/>
                                          </p:val>
                                        </p:tav>
                                        <p:tav tm="100000">
                                          <p:val>
                                            <p:fltVal val="0"/>
                                          </p:val>
                                        </p:tav>
                                      </p:tavLst>
                                    </p:anim>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57DCE-1390-519C-BD61-14645740F277}"/>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B3DA7B34-4649-3CE4-011B-D2F2E221B231}"/>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ACBC9E0F-3CC4-4B5C-5E00-3C4E527C1725}"/>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F298B0D8-FACE-A360-8343-A134C25B57C5}"/>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39A32D96-CA9E-1435-F8C3-41EC09FD5F4E}"/>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67B3B972-A795-4F75-A51E-43E09A3EEC91}"/>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9EB42015-B3FC-2847-9159-B10A855200B9}"/>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BA6E479D-2AB0-2134-0643-5503BF58D731}"/>
              </a:ext>
            </a:extLst>
          </p:cNvPr>
          <p:cNvSpPr txBox="1">
            <a:spLocks noGrp="1"/>
          </p:cNvSpPr>
          <p:nvPr>
            <p:ph type="title"/>
          </p:nvPr>
        </p:nvSpPr>
        <p:spPr>
          <a:xfrm>
            <a:off x="0" y="532066"/>
            <a:ext cx="13309600" cy="1077218"/>
          </a:xfrm>
          <a:prstGeom prst="rect">
            <a:avLst/>
          </a:prstGeom>
        </p:spPr>
        <p:txBody>
          <a:bodyPr vert="horz" wrap="square" lIns="0" tIns="12700" rIns="0" bIns="0" rtlCol="0">
            <a:spAutoFit/>
          </a:bodyPr>
          <a:lstStyle/>
          <a:p>
            <a:pPr marL="12700">
              <a:lnSpc>
                <a:spcPts val="8325"/>
              </a:lnSpc>
              <a:spcBef>
                <a:spcPts val="100"/>
              </a:spcBef>
            </a:pPr>
            <a:r>
              <a:rPr lang="en-GB" dirty="0"/>
              <a:t>Macros and Automation </a:t>
            </a:r>
            <a:endParaRPr spc="-1095" dirty="0"/>
          </a:p>
        </p:txBody>
      </p:sp>
      <p:sp>
        <p:nvSpPr>
          <p:cNvPr id="18" name="Text Placeholder 17">
            <a:extLst>
              <a:ext uri="{FF2B5EF4-FFF2-40B4-BE49-F238E27FC236}">
                <a16:creationId xmlns:a16="http://schemas.microsoft.com/office/drawing/2014/main" id="{F9EBE27D-3855-7570-CD7D-FB6D30A10CB8}"/>
              </a:ext>
            </a:extLst>
          </p:cNvPr>
          <p:cNvSpPr>
            <a:spLocks noGrp="1"/>
          </p:cNvSpPr>
          <p:nvPr>
            <p:ph type="body" idx="1"/>
          </p:nvPr>
        </p:nvSpPr>
        <p:spPr>
          <a:xfrm>
            <a:off x="1231776" y="3277154"/>
            <a:ext cx="8154670" cy="3263900"/>
          </a:xfrm>
        </p:spPr>
        <p:txBody>
          <a:bodyPr/>
          <a:lstStyle/>
          <a:p>
            <a:endParaRPr lang="en-AS"/>
          </a:p>
        </p:txBody>
      </p:sp>
      <p:pic>
        <p:nvPicPr>
          <p:cNvPr id="3" name="Picture 2">
            <a:extLst>
              <a:ext uri="{FF2B5EF4-FFF2-40B4-BE49-F238E27FC236}">
                <a16:creationId xmlns:a16="http://schemas.microsoft.com/office/drawing/2014/main" id="{805381EB-B694-3DEE-CDA1-2136323606C7}"/>
              </a:ext>
            </a:extLst>
          </p:cNvPr>
          <p:cNvPicPr>
            <a:picLocks noChangeAspect="1"/>
          </p:cNvPicPr>
          <p:nvPr/>
        </p:nvPicPr>
        <p:blipFill>
          <a:blip r:embed="rId6">
            <a:extLst>
              <a:ext uri="{28A0092B-C50C-407E-A947-70E740481C1C}">
                <a14:useLocalDpi xmlns:a14="http://schemas.microsoft.com/office/drawing/2010/main" val="0"/>
              </a:ext>
            </a:extLst>
          </a:blip>
          <a:srcRect l="2158" r="2591"/>
          <a:stretch/>
        </p:blipFill>
        <p:spPr>
          <a:xfrm>
            <a:off x="1231776" y="2008879"/>
            <a:ext cx="14008224" cy="6635733"/>
          </a:xfrm>
          <a:prstGeom prst="rect">
            <a:avLst/>
          </a:prstGeom>
        </p:spPr>
      </p:pic>
    </p:spTree>
    <p:extLst>
      <p:ext uri="{BB962C8B-B14F-4D97-AF65-F5344CB8AC3E}">
        <p14:creationId xmlns:p14="http://schemas.microsoft.com/office/powerpoint/2010/main" val="143127055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76EBE-6340-AF02-0048-F1606569DD1D}"/>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5279547C-0B1F-7BF4-25BA-B2C31E59BB32}"/>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92DA2A24-56CA-6D19-FA78-7B4C0744A40D}"/>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C4EE28B5-DA9E-AA21-B89D-A2260C294418}"/>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1D304BEA-82A4-26F3-6D22-DBAC18CB5C2A}"/>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2191BE85-6321-7844-D268-9FE0375E1D3C}"/>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DCB9E53B-B9D4-373A-CF07-7B52FC792763}"/>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F9FEC68A-D4B4-2125-FC3F-97CC9E924A9C}"/>
              </a:ext>
            </a:extLst>
          </p:cNvPr>
          <p:cNvSpPr txBox="1">
            <a:spLocks noGrp="1"/>
          </p:cNvSpPr>
          <p:nvPr>
            <p:ph type="title"/>
          </p:nvPr>
        </p:nvSpPr>
        <p:spPr>
          <a:xfrm>
            <a:off x="0" y="532066"/>
            <a:ext cx="15544800" cy="2141612"/>
          </a:xfrm>
          <a:prstGeom prst="rect">
            <a:avLst/>
          </a:prstGeom>
        </p:spPr>
        <p:txBody>
          <a:bodyPr vert="horz" wrap="square" lIns="0" tIns="12700" rIns="0" bIns="0" rtlCol="0">
            <a:spAutoFit/>
          </a:bodyPr>
          <a:lstStyle/>
          <a:p>
            <a:pPr marL="12700">
              <a:lnSpc>
                <a:spcPts val="8325"/>
              </a:lnSpc>
              <a:spcBef>
                <a:spcPts val="100"/>
              </a:spcBef>
            </a:pPr>
            <a:r>
              <a:rPr lang="en-GB" dirty="0"/>
              <a:t>Insights and Recommendations </a:t>
            </a:r>
            <a:endParaRPr spc="-1095" dirty="0"/>
          </a:p>
        </p:txBody>
      </p:sp>
      <p:sp>
        <p:nvSpPr>
          <p:cNvPr id="3" name="Text Placeholder 2">
            <a:extLst>
              <a:ext uri="{FF2B5EF4-FFF2-40B4-BE49-F238E27FC236}">
                <a16:creationId xmlns:a16="http://schemas.microsoft.com/office/drawing/2014/main" id="{1AA38B8A-EBA5-D49A-B5C2-16342DBE61BB}"/>
              </a:ext>
            </a:extLst>
          </p:cNvPr>
          <p:cNvSpPr>
            <a:spLocks noGrp="1"/>
          </p:cNvSpPr>
          <p:nvPr>
            <p:ph type="body" idx="1"/>
          </p:nvPr>
        </p:nvSpPr>
        <p:spPr>
          <a:xfrm>
            <a:off x="762000" y="2865749"/>
            <a:ext cx="14020800" cy="6401753"/>
          </a:xfrm>
        </p:spPr>
        <p:txBody>
          <a:bodyPr/>
          <a:lstStyle/>
          <a:p>
            <a:pPr marL="457200" indent="-457200">
              <a:buFont typeface="Wingdings" panose="05000000000000000000" pitchFamily="2" charset="2"/>
              <a:buChar char="ü"/>
            </a:pPr>
            <a:r>
              <a:rPr lang="en-GB" sz="3200" dirty="0"/>
              <a:t>The analysis revealed that </a:t>
            </a:r>
            <a:r>
              <a:rPr lang="en-GB" sz="3200" b="1" dirty="0"/>
              <a:t>Second Class</a:t>
            </a:r>
            <a:r>
              <a:rPr lang="en-GB" sz="3200" dirty="0"/>
              <a:t> shipping generated the highest sales at ₹459193.5694, making it the top-performing sales channel. </a:t>
            </a:r>
          </a:p>
          <a:p>
            <a:pPr marL="457200" indent="-457200">
              <a:buFont typeface="Wingdings" panose="05000000000000000000" pitchFamily="2" charset="2"/>
              <a:buChar char="ü"/>
            </a:pPr>
            <a:r>
              <a:rPr lang="en-GB" sz="3200" b="1" dirty="0"/>
              <a:t>Technology</a:t>
            </a:r>
            <a:r>
              <a:rPr lang="en-GB" sz="3200" dirty="0"/>
              <a:t> emerged as the best-selling product category with ₹836154.033 in adjusted sales. </a:t>
            </a:r>
          </a:p>
          <a:p>
            <a:pPr marL="457200" indent="-457200">
              <a:buFont typeface="Wingdings" panose="05000000000000000000" pitchFamily="2" charset="2"/>
              <a:buChar char="ü"/>
            </a:pPr>
            <a:r>
              <a:rPr lang="en-GB" sz="3200" dirty="0"/>
              <a:t>A  </a:t>
            </a:r>
            <a:r>
              <a:rPr lang="en-GB" sz="3200" b="1" dirty="0"/>
              <a:t>5% increase in discounts</a:t>
            </a:r>
            <a:r>
              <a:rPr lang="en-GB" sz="3200" dirty="0"/>
              <a:t> led to a noticeable drop in net revenue, indicating over-discounting reduces profitability. </a:t>
            </a:r>
          </a:p>
          <a:p>
            <a:pPr marL="457200" indent="-457200">
              <a:buFont typeface="Wingdings" panose="05000000000000000000" pitchFamily="2" charset="2"/>
              <a:buChar char="ü"/>
            </a:pPr>
            <a:r>
              <a:rPr lang="en-GB" sz="3200" dirty="0"/>
              <a:t>Sales peaked in </a:t>
            </a:r>
            <a:r>
              <a:rPr lang="en-GB" sz="3200" b="1" dirty="0"/>
              <a:t>2017</a:t>
            </a:r>
            <a:r>
              <a:rPr lang="en-GB" sz="3200" dirty="0"/>
              <a:t>, showing strong seasonal demand. Recommendations include promoting high-performing products during peak months, reducing discounts on low-margin items, and improving marketing efforts for underperforming segments. Supporting visuals include bar charts for category-wise sales and line graphs for monthly trends.</a:t>
            </a:r>
            <a:endParaRPr lang="en-AS" sz="3200" dirty="0"/>
          </a:p>
        </p:txBody>
      </p:sp>
      <p:pic>
        <p:nvPicPr>
          <p:cNvPr id="16" name="Picture 15" descr="A computer and phone in shopping cart&#10;&#10;AI-generated content may be incorrect.">
            <a:extLst>
              <a:ext uri="{FF2B5EF4-FFF2-40B4-BE49-F238E27FC236}">
                <a16:creationId xmlns:a16="http://schemas.microsoft.com/office/drawing/2014/main" id="{D76200D7-8DE1-B7CE-63B3-6339F68B45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56600" y="3187453"/>
            <a:ext cx="2857500" cy="313763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23318872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fltVal val="0"/>
                                          </p:val>
                                        </p:tav>
                                        <p:tav tm="100000">
                                          <p:val>
                                            <p:strVal val="#ppt_w"/>
                                          </p:val>
                                        </p:tav>
                                      </p:tavLst>
                                    </p:anim>
                                    <p:anim calcmode="lin" valueType="num">
                                      <p:cBhvr>
                                        <p:cTn id="32" dur="1000" fill="hold"/>
                                        <p:tgtEl>
                                          <p:spTgt spid="16"/>
                                        </p:tgtEl>
                                        <p:attrNameLst>
                                          <p:attrName>ppt_h</p:attrName>
                                        </p:attrNameLst>
                                      </p:cBhvr>
                                      <p:tavLst>
                                        <p:tav tm="0">
                                          <p:val>
                                            <p:fltVal val="0"/>
                                          </p:val>
                                        </p:tav>
                                        <p:tav tm="100000">
                                          <p:val>
                                            <p:strVal val="#ppt_h"/>
                                          </p:val>
                                        </p:tav>
                                      </p:tavLst>
                                    </p:anim>
                                    <p:anim calcmode="lin" valueType="num">
                                      <p:cBhvr>
                                        <p:cTn id="33" dur="1000" fill="hold"/>
                                        <p:tgtEl>
                                          <p:spTgt spid="16"/>
                                        </p:tgtEl>
                                        <p:attrNameLst>
                                          <p:attrName>style.rotation</p:attrName>
                                        </p:attrNameLst>
                                      </p:cBhvr>
                                      <p:tavLst>
                                        <p:tav tm="0">
                                          <p:val>
                                            <p:fltVal val="90"/>
                                          </p:val>
                                        </p:tav>
                                        <p:tav tm="100000">
                                          <p:val>
                                            <p:fltVal val="0"/>
                                          </p:val>
                                        </p:tav>
                                      </p:tavLst>
                                    </p:anim>
                                    <p:animEffect transition="in" filter="fade">
                                      <p:cBhvr>
                                        <p:cTn id="3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AA879-D366-E0F2-F934-E829CE2A4F52}"/>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C73C3B08-8680-03D6-6FDE-AECCBA52F0CE}"/>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CCE256B1-4570-419A-FC0C-D3B412983A7D}"/>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95CDB775-C6DF-3733-3F16-EECCE4952308}"/>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4EB3BDEB-4FF6-2CBF-DB52-1D7B64C4BFF3}"/>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D8DE0A4D-1F57-4E2A-C743-86DC8EDC30F3}"/>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27E842C5-F3B5-559E-17AC-A4204FCD386A}"/>
                </a:ext>
              </a:extLst>
            </p:cNvPr>
            <p:cNvPicPr/>
            <p:nvPr/>
          </p:nvPicPr>
          <p:blipFill>
            <a:blip r:embed="rId5" cstate="print"/>
            <a:stretch>
              <a:fillRect/>
            </a:stretch>
          </p:blipFill>
          <p:spPr>
            <a:xfrm>
              <a:off x="12103836" y="390676"/>
              <a:ext cx="5725954" cy="1209972"/>
            </a:xfrm>
            <a:prstGeom prst="rect">
              <a:avLst/>
            </a:prstGeom>
          </p:spPr>
        </p:pic>
      </p:grpSp>
      <p:sp>
        <p:nvSpPr>
          <p:cNvPr id="18" name="Text Placeholder 17">
            <a:extLst>
              <a:ext uri="{FF2B5EF4-FFF2-40B4-BE49-F238E27FC236}">
                <a16:creationId xmlns:a16="http://schemas.microsoft.com/office/drawing/2014/main" id="{EC48DCA2-7B61-50B7-7454-1C373A1B436B}"/>
              </a:ext>
            </a:extLst>
          </p:cNvPr>
          <p:cNvSpPr>
            <a:spLocks noGrp="1"/>
          </p:cNvSpPr>
          <p:nvPr>
            <p:ph type="body" idx="1"/>
          </p:nvPr>
        </p:nvSpPr>
        <p:spPr>
          <a:xfrm>
            <a:off x="839452" y="2378379"/>
            <a:ext cx="11047748" cy="2154436"/>
          </a:xfrm>
        </p:spPr>
        <p:txBody>
          <a:bodyPr/>
          <a:lstStyle/>
          <a:p>
            <a:pPr algn="l"/>
            <a:r>
              <a:rPr lang="en-GB" sz="2400" dirty="0">
                <a:latin typeface="Arial Black" panose="020B0A04020102020204" pitchFamily="34" charset="0"/>
              </a:rPr>
              <a:t>This Excel-based sales analysis showed that total adjusted sales reached ₹</a:t>
            </a:r>
            <a:r>
              <a:rPr lang="en-AS" sz="2400" b="1" i="0" u="none" strike="noStrike" dirty="0">
                <a:solidFill>
                  <a:srgbClr val="FFFFFF"/>
                </a:solidFill>
                <a:effectLst/>
                <a:latin typeface="Arial Rounded MT Bold" panose="020F0704030504030204" pitchFamily="34" charset="0"/>
              </a:rPr>
              <a:t>1974499.366</a:t>
            </a:r>
            <a:r>
              <a:rPr lang="en-AS" sz="2000" dirty="0"/>
              <a:t> </a:t>
            </a:r>
            <a:r>
              <a:rPr lang="en-GB" sz="2400" dirty="0">
                <a:latin typeface="Arial Black" panose="020B0A04020102020204" pitchFamily="34" charset="0"/>
              </a:rPr>
              <a:t> with Technology as the best-selling category -</a:t>
            </a:r>
            <a:r>
              <a:rPr lang="en-AS" sz="2400" u="none" strike="noStrike" dirty="0">
                <a:effectLst/>
                <a:latin typeface="Illuma Black" panose="00000A00000000000000" pitchFamily="2" charset="0"/>
              </a:rPr>
              <a:t>836154.033</a:t>
            </a:r>
            <a:r>
              <a:rPr lang="en-GB" sz="2400" dirty="0">
                <a:latin typeface="Illuma Black" panose="00000A00000000000000" pitchFamily="2" charset="0"/>
              </a:rPr>
              <a:t> </a:t>
            </a:r>
            <a:r>
              <a:rPr lang="en-GB" sz="2400" dirty="0">
                <a:latin typeface="Arial Black" panose="020B0A04020102020204" pitchFamily="34" charset="0"/>
              </a:rPr>
              <a:t>and Second Class as the top-performing shipping mode </a:t>
            </a:r>
            <a:r>
              <a:rPr lang="en-AS" sz="2400" u="none" strike="noStrike" dirty="0">
                <a:effectLst/>
                <a:latin typeface="Illuma Black" panose="00000A00000000000000" pitchFamily="2" charset="0"/>
              </a:rPr>
              <a:t>836154.033</a:t>
            </a:r>
            <a:r>
              <a:rPr lang="en-GB" sz="2400" dirty="0">
                <a:latin typeface="Arial Black" panose="020B0A04020102020204" pitchFamily="34" charset="0"/>
              </a:rPr>
              <a:t>. Peak sales were 2017, highlighting strong seasonal trends.</a:t>
            </a:r>
          </a:p>
          <a:p>
            <a:endParaRPr lang="en-AS" dirty="0"/>
          </a:p>
        </p:txBody>
      </p:sp>
      <p:sp>
        <p:nvSpPr>
          <p:cNvPr id="2" name="Title 1">
            <a:extLst>
              <a:ext uri="{FF2B5EF4-FFF2-40B4-BE49-F238E27FC236}">
                <a16:creationId xmlns:a16="http://schemas.microsoft.com/office/drawing/2014/main" id="{4B0E12B2-7CE1-9245-351B-EEA94FC99F64}"/>
              </a:ext>
            </a:extLst>
          </p:cNvPr>
          <p:cNvSpPr>
            <a:spLocks noGrp="1"/>
          </p:cNvSpPr>
          <p:nvPr>
            <p:ph type="title"/>
          </p:nvPr>
        </p:nvSpPr>
        <p:spPr>
          <a:xfrm>
            <a:off x="762000" y="521398"/>
            <a:ext cx="13309600" cy="1077912"/>
          </a:xfrm>
        </p:spPr>
        <p:txBody>
          <a:bodyPr/>
          <a:lstStyle/>
          <a:p>
            <a:r>
              <a:rPr lang="en-GB" dirty="0"/>
              <a:t>Conclusion</a:t>
            </a:r>
            <a:endParaRPr lang="en-AS" dirty="0"/>
          </a:p>
        </p:txBody>
      </p:sp>
      <p:sp>
        <p:nvSpPr>
          <p:cNvPr id="4" name="TextBox 3">
            <a:extLst>
              <a:ext uri="{FF2B5EF4-FFF2-40B4-BE49-F238E27FC236}">
                <a16:creationId xmlns:a16="http://schemas.microsoft.com/office/drawing/2014/main" id="{B5B0DF35-5CF5-E7F3-BD10-F44589C6DA99}"/>
              </a:ext>
            </a:extLst>
          </p:cNvPr>
          <p:cNvSpPr txBox="1"/>
          <p:nvPr/>
        </p:nvSpPr>
        <p:spPr>
          <a:xfrm>
            <a:off x="762000" y="4671178"/>
            <a:ext cx="10363200" cy="3631763"/>
          </a:xfrm>
          <a:prstGeom prst="rect">
            <a:avLst/>
          </a:prstGeom>
          <a:noFill/>
        </p:spPr>
        <p:txBody>
          <a:bodyPr wrap="square">
            <a:spAutoFit/>
          </a:bodyPr>
          <a:lstStyle/>
          <a:p>
            <a:r>
              <a:rPr lang="en-GB" sz="6000" b="1" dirty="0">
                <a:solidFill>
                  <a:schemeClr val="bg1"/>
                </a:solidFill>
                <a:latin typeface="Illuma Black" panose="00000A00000000000000" pitchFamily="2" charset="0"/>
              </a:rPr>
              <a:t>Next Steps</a:t>
            </a:r>
          </a:p>
          <a:p>
            <a:br>
              <a:rPr lang="en-GB" dirty="0"/>
            </a:br>
            <a:r>
              <a:rPr lang="en-GB" sz="2400" dirty="0">
                <a:solidFill>
                  <a:schemeClr val="bg1"/>
                </a:solidFill>
                <a:latin typeface="Arial Black" panose="020B0A04020102020204" pitchFamily="34" charset="0"/>
              </a:rPr>
              <a:t>Use Excel’s FORECAST function to predict next quarter's sales. Apply Power Query for better data import and cleanup. Add data validation to reduce future errors. Explore customer trends by segment and region using new PivotTables. Refine dashboards with updated slicers for better interactivity</a:t>
            </a:r>
            <a:r>
              <a:rPr lang="en-GB" sz="3200" dirty="0">
                <a:solidFill>
                  <a:schemeClr val="bg1"/>
                </a:solidFill>
                <a:latin typeface="Arial Rounded MT Bold" panose="020F0704030504030204" pitchFamily="34" charset="0"/>
              </a:rPr>
              <a:t>.</a:t>
            </a:r>
          </a:p>
        </p:txBody>
      </p:sp>
      <p:pic>
        <p:nvPicPr>
          <p:cNvPr id="6" name="Picture 5" descr="A person holding a credit card and using a computer&#10;&#10;AI-generated content may be incorrect.">
            <a:extLst>
              <a:ext uri="{FF2B5EF4-FFF2-40B4-BE49-F238E27FC236}">
                <a16:creationId xmlns:a16="http://schemas.microsoft.com/office/drawing/2014/main" id="{C6C31B9B-CD02-DF6B-C053-6004E0E706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258800" y="3455596"/>
            <a:ext cx="4267200" cy="328810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33528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xEl>
                                              <p:pRg st="0" end="0"/>
                                            </p:txEl>
                                          </p:spTgt>
                                        </p:tgtEl>
                                        <p:attrNameLst>
                                          <p:attrName>style.visibility</p:attrName>
                                        </p:attrNameLst>
                                      </p:cBhvr>
                                      <p:to>
                                        <p:strVal val="visible"/>
                                      </p:to>
                                    </p:set>
                                    <p:anim calcmode="lin" valueType="num">
                                      <p:cBhvr additive="base">
                                        <p:cTn id="13"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54D6-55CA-2E5B-65CF-5B3799A064D7}"/>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9BBF52BE-9ACE-0D91-7BFC-5F499907B16C}"/>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03092DEE-483C-BEEF-F7DD-915D8E311E32}"/>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FB4FD1CA-04F3-9C15-1764-3BB4C3AB8957}"/>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4F0775D8-3DA3-2417-7696-49118380E0D7}"/>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AF5F40AF-7549-B977-C53A-D47F01A7364B}"/>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2E479A23-B374-9885-1753-36CEC979A00F}"/>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09385BE9-CD7C-B6F0-FEAF-345252BF463F}"/>
              </a:ext>
            </a:extLst>
          </p:cNvPr>
          <p:cNvSpPr txBox="1">
            <a:spLocks noGrp="1"/>
          </p:cNvSpPr>
          <p:nvPr>
            <p:ph type="title"/>
          </p:nvPr>
        </p:nvSpPr>
        <p:spPr>
          <a:xfrm>
            <a:off x="4502791" y="4593124"/>
            <a:ext cx="13309600" cy="1100751"/>
          </a:xfrm>
          <a:prstGeom prst="rect">
            <a:avLst/>
          </a:prstGeom>
          <a:effectLst>
            <a:outerShdw blurRad="152400" dist="317500" dir="5400000" sx="90000" sy="-19000" rotWithShape="0">
              <a:prstClr val="black">
                <a:alpha val="15000"/>
              </a:prstClr>
            </a:outerShdw>
          </a:effectLst>
        </p:spPr>
        <p:txBody>
          <a:bodyPr vert="horz" wrap="square" lIns="0" tIns="12700" rIns="0" bIns="0" rtlCol="0">
            <a:spAutoFit/>
          </a:bodyPr>
          <a:lstStyle/>
          <a:p>
            <a:pPr marL="12700">
              <a:lnSpc>
                <a:spcPts val="8325"/>
              </a:lnSpc>
              <a:spcBef>
                <a:spcPts val="100"/>
              </a:spcBef>
            </a:pPr>
            <a:r>
              <a:rPr lang="en-GB" sz="11000" dirty="0"/>
              <a:t>THANK YOU </a:t>
            </a:r>
            <a:endParaRPr sz="11000" spc="-1095" dirty="0"/>
          </a:p>
        </p:txBody>
      </p:sp>
    </p:spTree>
    <p:extLst>
      <p:ext uri="{BB962C8B-B14F-4D97-AF65-F5344CB8AC3E}">
        <p14:creationId xmlns:p14="http://schemas.microsoft.com/office/powerpoint/2010/main" val="22956217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DCFD2-B112-AD6F-C66D-8DC9B09AEAF2}"/>
            </a:ext>
          </a:extLst>
        </p:cNvPr>
        <p:cNvGrpSpPr/>
        <p:nvPr/>
      </p:nvGrpSpPr>
      <p:grpSpPr>
        <a:xfrm>
          <a:off x="0" y="0"/>
          <a:ext cx="0" cy="0"/>
          <a:chOff x="0" y="0"/>
          <a:chExt cx="0" cy="0"/>
        </a:xfrm>
      </p:grpSpPr>
      <p:grpSp>
        <p:nvGrpSpPr>
          <p:cNvPr id="7" name="object 7">
            <a:extLst>
              <a:ext uri="{FF2B5EF4-FFF2-40B4-BE49-F238E27FC236}">
                <a16:creationId xmlns:a16="http://schemas.microsoft.com/office/drawing/2014/main" id="{C59B9EEA-F864-6380-2DBB-A142311DCEA5}"/>
              </a:ext>
            </a:extLst>
          </p:cNvPr>
          <p:cNvGrpSpPr/>
          <p:nvPr/>
        </p:nvGrpSpPr>
        <p:grpSpPr>
          <a:xfrm>
            <a:off x="0" y="8653249"/>
            <a:ext cx="6275705" cy="1210310"/>
            <a:chOff x="0" y="8653249"/>
            <a:chExt cx="6275705" cy="1210310"/>
          </a:xfrm>
        </p:grpSpPr>
        <p:pic>
          <p:nvPicPr>
            <p:cNvPr id="8" name="object 8">
              <a:extLst>
                <a:ext uri="{FF2B5EF4-FFF2-40B4-BE49-F238E27FC236}">
                  <a16:creationId xmlns:a16="http://schemas.microsoft.com/office/drawing/2014/main" id="{9C03FF95-7DA5-6597-EEB1-83AE968655D4}"/>
                </a:ext>
              </a:extLst>
            </p:cNvPr>
            <p:cNvPicPr/>
            <p:nvPr/>
          </p:nvPicPr>
          <p:blipFill>
            <a:blip r:embed="rId2" cstate="print"/>
            <a:stretch>
              <a:fillRect/>
            </a:stretch>
          </p:blipFill>
          <p:spPr>
            <a:xfrm>
              <a:off x="5291711" y="9061481"/>
              <a:ext cx="983771" cy="800402"/>
            </a:xfrm>
            <a:prstGeom prst="rect">
              <a:avLst/>
            </a:prstGeom>
          </p:spPr>
        </p:pic>
        <p:pic>
          <p:nvPicPr>
            <p:cNvPr id="9" name="object 9">
              <a:extLst>
                <a:ext uri="{FF2B5EF4-FFF2-40B4-BE49-F238E27FC236}">
                  <a16:creationId xmlns:a16="http://schemas.microsoft.com/office/drawing/2014/main" id="{6432D776-477B-1113-B4B2-6B5728078A35}"/>
                </a:ext>
              </a:extLst>
            </p:cNvPr>
            <p:cNvPicPr/>
            <p:nvPr/>
          </p:nvPicPr>
          <p:blipFill>
            <a:blip r:embed="rId3" cstate="print"/>
            <a:stretch>
              <a:fillRect/>
            </a:stretch>
          </p:blipFill>
          <p:spPr>
            <a:xfrm>
              <a:off x="0" y="8653249"/>
              <a:ext cx="5309111" cy="1209972"/>
            </a:xfrm>
            <a:prstGeom prst="rect">
              <a:avLst/>
            </a:prstGeom>
          </p:spPr>
        </p:pic>
      </p:grpSp>
      <p:grpSp>
        <p:nvGrpSpPr>
          <p:cNvPr id="10" name="object 10">
            <a:extLst>
              <a:ext uri="{FF2B5EF4-FFF2-40B4-BE49-F238E27FC236}">
                <a16:creationId xmlns:a16="http://schemas.microsoft.com/office/drawing/2014/main" id="{55E7EAEB-1DEB-5B61-B7C8-DA4EA9506CBD}"/>
              </a:ext>
            </a:extLst>
          </p:cNvPr>
          <p:cNvGrpSpPr/>
          <p:nvPr/>
        </p:nvGrpSpPr>
        <p:grpSpPr>
          <a:xfrm>
            <a:off x="12103836" y="390676"/>
            <a:ext cx="6184265" cy="1210310"/>
            <a:chOff x="12103836" y="390676"/>
            <a:chExt cx="6184265" cy="1210310"/>
          </a:xfrm>
        </p:grpSpPr>
        <p:pic>
          <p:nvPicPr>
            <p:cNvPr id="11" name="object 11">
              <a:extLst>
                <a:ext uri="{FF2B5EF4-FFF2-40B4-BE49-F238E27FC236}">
                  <a16:creationId xmlns:a16="http://schemas.microsoft.com/office/drawing/2014/main" id="{8AFA20D1-31C6-22F5-35E3-19E353C8B7AC}"/>
                </a:ext>
              </a:extLst>
            </p:cNvPr>
            <p:cNvPicPr/>
            <p:nvPr/>
          </p:nvPicPr>
          <p:blipFill>
            <a:blip r:embed="rId4" cstate="print"/>
            <a:stretch>
              <a:fillRect/>
            </a:stretch>
          </p:blipFill>
          <p:spPr>
            <a:xfrm>
              <a:off x="17812391" y="894425"/>
              <a:ext cx="475608" cy="704885"/>
            </a:xfrm>
            <a:prstGeom prst="rect">
              <a:avLst/>
            </a:prstGeom>
          </p:spPr>
        </p:pic>
        <p:pic>
          <p:nvPicPr>
            <p:cNvPr id="12" name="object 12">
              <a:extLst>
                <a:ext uri="{FF2B5EF4-FFF2-40B4-BE49-F238E27FC236}">
                  <a16:creationId xmlns:a16="http://schemas.microsoft.com/office/drawing/2014/main" id="{01A67902-CBAA-FF37-86AC-4FD8CAE737FA}"/>
                </a:ext>
              </a:extLst>
            </p:cNvPr>
            <p:cNvPicPr/>
            <p:nvPr/>
          </p:nvPicPr>
          <p:blipFill>
            <a:blip r:embed="rId5" cstate="print"/>
            <a:stretch>
              <a:fillRect/>
            </a:stretch>
          </p:blipFill>
          <p:spPr>
            <a:xfrm>
              <a:off x="12103836" y="390676"/>
              <a:ext cx="5725954" cy="1209972"/>
            </a:xfrm>
            <a:prstGeom prst="rect">
              <a:avLst/>
            </a:prstGeom>
          </p:spPr>
        </p:pic>
      </p:grpSp>
      <p:sp>
        <p:nvSpPr>
          <p:cNvPr id="13" name="object 13">
            <a:extLst>
              <a:ext uri="{FF2B5EF4-FFF2-40B4-BE49-F238E27FC236}">
                <a16:creationId xmlns:a16="http://schemas.microsoft.com/office/drawing/2014/main" id="{804C548B-7ABD-4824-51BA-204DBA052E21}"/>
              </a:ext>
            </a:extLst>
          </p:cNvPr>
          <p:cNvSpPr txBox="1">
            <a:spLocks noGrp="1"/>
          </p:cNvSpPr>
          <p:nvPr>
            <p:ph type="title"/>
          </p:nvPr>
        </p:nvSpPr>
        <p:spPr>
          <a:xfrm>
            <a:off x="4502791" y="4593124"/>
            <a:ext cx="13309600" cy="1100751"/>
          </a:xfrm>
          <a:prstGeom prst="rect">
            <a:avLst/>
          </a:prstGeom>
          <a:effectLst>
            <a:outerShdw blurRad="152400" dist="317500" dir="5400000" sx="90000" sy="-19000" rotWithShape="0">
              <a:prstClr val="black">
                <a:alpha val="15000"/>
              </a:prstClr>
            </a:outerShdw>
          </a:effectLst>
        </p:spPr>
        <p:txBody>
          <a:bodyPr vert="horz" wrap="square" lIns="0" tIns="12700" rIns="0" bIns="0" rtlCol="0">
            <a:spAutoFit/>
          </a:bodyPr>
          <a:lstStyle/>
          <a:p>
            <a:pPr marL="12700">
              <a:lnSpc>
                <a:spcPts val="8325"/>
              </a:lnSpc>
              <a:spcBef>
                <a:spcPts val="100"/>
              </a:spcBef>
            </a:pPr>
            <a:r>
              <a:rPr lang="en-GB" sz="11000" dirty="0"/>
              <a:t>THANK YOU </a:t>
            </a:r>
            <a:endParaRPr sz="11000" spc="-1095" dirty="0"/>
          </a:p>
        </p:txBody>
      </p:sp>
    </p:spTree>
    <p:extLst>
      <p:ext uri="{BB962C8B-B14F-4D97-AF65-F5344CB8AC3E}">
        <p14:creationId xmlns:p14="http://schemas.microsoft.com/office/powerpoint/2010/main" val="69437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13"/>
                                        </p:tgtEl>
                                        <p:attrNameLst>
                                          <p:attrName>ppt_w</p:attrName>
                                        </p:attrNameLst>
                                      </p:cBhvr>
                                      <p:tavLst>
                                        <p:tav tm="0">
                                          <p:val>
                                            <p:strVal val="ppt_w"/>
                                          </p:val>
                                        </p:tav>
                                        <p:tav tm="100000">
                                          <p:val>
                                            <p:fltVal val="0"/>
                                          </p:val>
                                        </p:tav>
                                      </p:tavLst>
                                    </p:anim>
                                    <p:anim calcmode="lin" valueType="num">
                                      <p:cBhvr>
                                        <p:cTn id="7" dur="1000"/>
                                        <p:tgtEl>
                                          <p:spTgt spid="13"/>
                                        </p:tgtEl>
                                        <p:attrNameLst>
                                          <p:attrName>ppt_h</p:attrName>
                                        </p:attrNameLst>
                                      </p:cBhvr>
                                      <p:tavLst>
                                        <p:tav tm="0">
                                          <p:val>
                                            <p:strVal val="ppt_h"/>
                                          </p:val>
                                        </p:tav>
                                        <p:tav tm="100000">
                                          <p:val>
                                            <p:fltVal val="0"/>
                                          </p:val>
                                        </p:tav>
                                      </p:tavLst>
                                    </p:anim>
                                    <p:anim calcmode="lin" valueType="num">
                                      <p:cBhvr>
                                        <p:cTn id="8" dur="1000"/>
                                        <p:tgtEl>
                                          <p:spTgt spid="13"/>
                                        </p:tgtEl>
                                        <p:attrNameLst>
                                          <p:attrName>style.rotation</p:attrName>
                                        </p:attrNameLst>
                                      </p:cBhvr>
                                      <p:tavLst>
                                        <p:tav tm="0">
                                          <p:val>
                                            <p:fltVal val="0"/>
                                          </p:val>
                                        </p:tav>
                                        <p:tav tm="100000">
                                          <p:val>
                                            <p:fltVal val="90"/>
                                          </p:val>
                                        </p:tav>
                                      </p:tavLst>
                                    </p:anim>
                                    <p:animEffect transition="out" filter="fade">
                                      <p:cBhvr>
                                        <p:cTn id="9" dur="1000"/>
                                        <p:tgtEl>
                                          <p:spTgt spid="13"/>
                                        </p:tgtEl>
                                      </p:cBhvr>
                                    </p:animEffect>
                                    <p:set>
                                      <p:cBhvr>
                                        <p:cTn id="10" dur="1" fill="hold">
                                          <p:stCondLst>
                                            <p:cond delay="9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80B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1093</TotalTime>
  <Words>728</Words>
  <Application>Microsoft Office PowerPoint</Application>
  <PresentationFormat>Custom</PresentationFormat>
  <Paragraphs>123</Paragraphs>
  <Slides>18</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Microsoft JhengHei UI Light</vt:lpstr>
      <vt:lpstr>Aptos</vt:lpstr>
      <vt:lpstr>Arial</vt:lpstr>
      <vt:lpstr>Arial Black</vt:lpstr>
      <vt:lpstr>Arial Rounded MT Bold</vt:lpstr>
      <vt:lpstr>Illuma Black</vt:lpstr>
      <vt:lpstr>Lilita One</vt:lpstr>
      <vt:lpstr>Microsoft Sans Serif</vt:lpstr>
      <vt:lpstr>Montserrat</vt:lpstr>
      <vt:lpstr>Tahoma</vt:lpstr>
      <vt:lpstr>Wingdings</vt:lpstr>
      <vt:lpstr>Office Theme</vt:lpstr>
      <vt:lpstr>Sales Dataset Analysis</vt:lpstr>
      <vt:lpstr>Project Overview</vt:lpstr>
      <vt:lpstr>KEY METRICS</vt:lpstr>
      <vt:lpstr>Data Description</vt:lpstr>
      <vt:lpstr>PowerPoint Presentation</vt:lpstr>
      <vt:lpstr>PowerPoint Presentation</vt:lpstr>
      <vt:lpstr>Pivot Tables and Pivot Charts </vt:lpstr>
      <vt:lpstr>customer segment by sales </vt:lpstr>
      <vt:lpstr>Ship mode by sales</vt:lpstr>
      <vt:lpstr>SALES OVER A PEROID</vt:lpstr>
      <vt:lpstr>Dashboard Overview </vt:lpstr>
      <vt:lpstr>PowerPoint Presentation</vt:lpstr>
      <vt:lpstr>What-If Analysis </vt:lpstr>
      <vt:lpstr>Macros and Automation </vt:lpstr>
      <vt:lpstr>Insights and Recommendations </vt:lpstr>
      <vt:lpstr>Conclusion</vt:lpstr>
      <vt:lpstr>THANK YOU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Business Data Analysis Presentation</dc:title>
  <dc:creator>Deepa G</dc:creator>
  <cp:keywords>DAGoVbSRsas,BAFbYM5A-hM,0</cp:keywords>
  <cp:lastModifiedBy>Deepa Gunasekar</cp:lastModifiedBy>
  <cp:revision>13</cp:revision>
  <dcterms:created xsi:type="dcterms:W3CDTF">2025-05-24T05:59:14Z</dcterms:created>
  <dcterms:modified xsi:type="dcterms:W3CDTF">2025-05-26T17:30:40Z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2025-05-24T00:00:00Z</vt:filetime>
  </property>
  <property fmtid="{D5CDD505-2E9C-101B-9397-08002B2CF9AE}" pid="3" name="Creator">
    <vt:lpwstr>Canva</vt:lpwstr>
  </property>
  <property fmtid="{D5CDD505-2E9C-101B-9397-08002B2CF9AE}" pid="4" name="LastSaved">
    <vt:filetime>2025-05-24T00:00:00Z</vt:filetime>
  </property>
  <property fmtid="{D5CDD505-2E9C-101B-9397-08002B2CF9AE}" pid="5" name="Producer">
    <vt:lpwstr>Canva</vt:lpwstr>
  </property>
</Properties>
</file>